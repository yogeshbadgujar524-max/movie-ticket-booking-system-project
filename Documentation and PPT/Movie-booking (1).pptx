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tmp" ContentType="image/jpe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2" r:id="rId6"/>
    <p:sldId id="282" r:id="rId7"/>
    <p:sldId id="284" r:id="rId8"/>
    <p:sldId id="286" r:id="rId9"/>
    <p:sldId id="288" r:id="rId10"/>
    <p:sldId id="290" r:id="rId11"/>
    <p:sldId id="264" r:id="rId12"/>
    <p:sldId id="265" r:id="rId13"/>
    <p:sldId id="266" r:id="rId14"/>
    <p:sldId id="271" r:id="rId15"/>
    <p:sldId id="272" r:id="rId16"/>
    <p:sldId id="273" r:id="rId17"/>
    <p:sldId id="268" r:id="rId18"/>
    <p:sldId id="269" r:id="rId19"/>
    <p:sldId id="270" r:id="rId20"/>
    <p:sldId id="280"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52217"/>
    <a:srgbClr val="CC3300"/>
    <a:srgbClr val="41140B"/>
    <a:srgbClr val="040404"/>
    <a:srgbClr val="682012"/>
    <a:srgbClr val="991D13"/>
    <a:srgbClr val="59110B"/>
    <a:srgbClr val="990033"/>
    <a:srgbClr val="A93D11"/>
    <a:srgbClr val="D2241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1" d="100"/>
          <a:sy n="71" d="100"/>
        </p:scale>
        <p:origin x="618"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slide" Target="slides/slide17.xml" /><Relationship Id="rId3" Type="http://schemas.openxmlformats.org/officeDocument/2006/relationships/slide" Target="slides/slide2.xml" /><Relationship Id="rId21" Type="http://schemas.openxmlformats.org/officeDocument/2006/relationships/slide" Target="slides/slide20.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tableStyles" Target="tableStyles.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slide" Target="slides/slide19.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theme" Target="theme/theme1.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viewProps" Target="viewProps.xml" /><Relationship Id="rId10" Type="http://schemas.openxmlformats.org/officeDocument/2006/relationships/slide" Target="slides/slide9.xml" /><Relationship Id="rId19" Type="http://schemas.openxmlformats.org/officeDocument/2006/relationships/slide" Target="slides/slide18.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presProps" Target="presProps.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DACDECC7-2B92-49EA-A87A-CDB0E892FBD9}" type="datetimeFigureOut">
              <a:rPr lang="en-IN" smtClean="0"/>
              <a:t>28-11-2025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FA2AA7B-1214-4015-A176-A390C2053335}" type="slidenum">
              <a:rPr lang="en-IN" smtClean="0"/>
              <a:t>‹#›</a:t>
            </a:fld>
            <a:endParaRPr lang="en-IN"/>
          </a:p>
        </p:txBody>
      </p:sp>
    </p:spTree>
    <p:extLst>
      <p:ext uri="{BB962C8B-B14F-4D97-AF65-F5344CB8AC3E}">
        <p14:creationId xmlns:p14="http://schemas.microsoft.com/office/powerpoint/2010/main" val="5034812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DACDECC7-2B92-49EA-A87A-CDB0E892FBD9}" type="datetimeFigureOut">
              <a:rPr lang="en-IN" smtClean="0"/>
              <a:t>28-11-2025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FA2AA7B-1214-4015-A176-A390C2053335}" type="slidenum">
              <a:rPr lang="en-IN" smtClean="0"/>
              <a:t>‹#›</a:t>
            </a:fld>
            <a:endParaRPr lang="en-IN"/>
          </a:p>
        </p:txBody>
      </p:sp>
    </p:spTree>
    <p:extLst>
      <p:ext uri="{BB962C8B-B14F-4D97-AF65-F5344CB8AC3E}">
        <p14:creationId xmlns:p14="http://schemas.microsoft.com/office/powerpoint/2010/main" val="26667911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ACDECC7-2B92-49EA-A87A-CDB0E892FBD9}" type="datetimeFigureOut">
              <a:rPr lang="en-IN" smtClean="0"/>
              <a:t>28-11-2025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FA2AA7B-1214-4015-A176-A390C2053335}" type="slidenum">
              <a:rPr lang="en-IN" smtClean="0"/>
              <a:t>‹#›</a:t>
            </a:fld>
            <a:endParaRPr lang="en-IN"/>
          </a:p>
        </p:txBody>
      </p:sp>
    </p:spTree>
    <p:extLst>
      <p:ext uri="{BB962C8B-B14F-4D97-AF65-F5344CB8AC3E}">
        <p14:creationId xmlns:p14="http://schemas.microsoft.com/office/powerpoint/2010/main" val="31687308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DACDECC7-2B92-49EA-A87A-CDB0E892FBD9}" type="datetimeFigureOut">
              <a:rPr lang="en-IN" smtClean="0"/>
              <a:t>28-11-2025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FA2AA7B-1214-4015-A176-A390C2053335}" type="slidenum">
              <a:rPr lang="en-IN" smtClean="0"/>
              <a:t>‹#›</a:t>
            </a:fld>
            <a:endParaRPr lang="en-IN"/>
          </a:p>
        </p:txBody>
      </p:sp>
    </p:spTree>
    <p:extLst>
      <p:ext uri="{BB962C8B-B14F-4D97-AF65-F5344CB8AC3E}">
        <p14:creationId xmlns:p14="http://schemas.microsoft.com/office/powerpoint/2010/main" val="13673682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DACDECC7-2B92-49EA-A87A-CDB0E892FBD9}" type="datetimeFigureOut">
              <a:rPr lang="en-IN" smtClean="0"/>
              <a:t>28-11-2025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8FA2AA7B-1214-4015-A176-A390C2053335}" type="slidenum">
              <a:rPr lang="en-IN" smtClean="0"/>
              <a:t>‹#›</a:t>
            </a:fld>
            <a:endParaRPr lang="en-IN"/>
          </a:p>
        </p:txBody>
      </p:sp>
    </p:spTree>
    <p:extLst>
      <p:ext uri="{BB962C8B-B14F-4D97-AF65-F5344CB8AC3E}">
        <p14:creationId xmlns:p14="http://schemas.microsoft.com/office/powerpoint/2010/main" val="24400778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DACDECC7-2B92-49EA-A87A-CDB0E892FBD9}" type="datetimeFigureOut">
              <a:rPr lang="en-IN" smtClean="0"/>
              <a:t>28-11-2025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8FA2AA7B-1214-4015-A176-A390C2053335}" type="slidenum">
              <a:rPr lang="en-IN" smtClean="0"/>
              <a:t>‹#›</a:t>
            </a:fld>
            <a:endParaRPr lang="en-IN"/>
          </a:p>
        </p:txBody>
      </p:sp>
    </p:spTree>
    <p:extLst>
      <p:ext uri="{BB962C8B-B14F-4D97-AF65-F5344CB8AC3E}">
        <p14:creationId xmlns:p14="http://schemas.microsoft.com/office/powerpoint/2010/main" val="7474431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ACDECC7-2B92-49EA-A87A-CDB0E892FBD9}" type="datetimeFigureOut">
              <a:rPr lang="en-IN" smtClean="0"/>
              <a:t>28-11-2025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8FA2AA7B-1214-4015-A176-A390C2053335}" type="slidenum">
              <a:rPr lang="en-IN" smtClean="0"/>
              <a:t>‹#›</a:t>
            </a:fld>
            <a:endParaRPr lang="en-IN"/>
          </a:p>
        </p:txBody>
      </p:sp>
    </p:spTree>
    <p:extLst>
      <p:ext uri="{BB962C8B-B14F-4D97-AF65-F5344CB8AC3E}">
        <p14:creationId xmlns:p14="http://schemas.microsoft.com/office/powerpoint/2010/main" val="37385689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ACDECC7-2B92-49EA-A87A-CDB0E892FBD9}" type="datetimeFigureOut">
              <a:rPr lang="en-IN" smtClean="0"/>
              <a:t>28-11-2025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FA2AA7B-1214-4015-A176-A390C2053335}" type="slidenum">
              <a:rPr lang="en-IN" smtClean="0"/>
              <a:t>‹#›</a:t>
            </a:fld>
            <a:endParaRPr lang="en-IN"/>
          </a:p>
        </p:txBody>
      </p:sp>
    </p:spTree>
    <p:extLst>
      <p:ext uri="{BB962C8B-B14F-4D97-AF65-F5344CB8AC3E}">
        <p14:creationId xmlns:p14="http://schemas.microsoft.com/office/powerpoint/2010/main" val="5702576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ACDECC7-2B92-49EA-A87A-CDB0E892FBD9}" type="datetimeFigureOut">
              <a:rPr lang="en-IN" smtClean="0"/>
              <a:t>28-11-2025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FA2AA7B-1214-4015-A176-A390C2053335}" type="slidenum">
              <a:rPr lang="en-IN" smtClean="0"/>
              <a:t>‹#›</a:t>
            </a:fld>
            <a:endParaRPr lang="en-IN"/>
          </a:p>
        </p:txBody>
      </p:sp>
    </p:spTree>
    <p:extLst>
      <p:ext uri="{BB962C8B-B14F-4D97-AF65-F5344CB8AC3E}">
        <p14:creationId xmlns:p14="http://schemas.microsoft.com/office/powerpoint/2010/main" val="5165315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DACDECC7-2B92-49EA-A87A-CDB0E892FBD9}" type="datetimeFigureOut">
              <a:rPr lang="en-IN" smtClean="0"/>
              <a:t>28-11-2025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FA2AA7B-1214-4015-A176-A390C2053335}" type="slidenum">
              <a:rPr lang="en-IN" smtClean="0"/>
              <a:t>‹#›</a:t>
            </a:fld>
            <a:endParaRPr lang="en-IN"/>
          </a:p>
        </p:txBody>
      </p:sp>
    </p:spTree>
    <p:extLst>
      <p:ext uri="{BB962C8B-B14F-4D97-AF65-F5344CB8AC3E}">
        <p14:creationId xmlns:p14="http://schemas.microsoft.com/office/powerpoint/2010/main" val="3134698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DACDECC7-2B92-49EA-A87A-CDB0E892FBD9}" type="datetimeFigureOut">
              <a:rPr lang="en-IN" smtClean="0"/>
              <a:t>28-11-2025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FA2AA7B-1214-4015-A176-A390C2053335}" type="slidenum">
              <a:rPr lang="en-IN" smtClean="0"/>
              <a:t>‹#›</a:t>
            </a:fld>
            <a:endParaRPr lang="en-IN"/>
          </a:p>
        </p:txBody>
      </p:sp>
    </p:spTree>
    <p:extLst>
      <p:ext uri="{BB962C8B-B14F-4D97-AF65-F5344CB8AC3E}">
        <p14:creationId xmlns:p14="http://schemas.microsoft.com/office/powerpoint/2010/main" val="26655019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100000">
              <a:srgbClr val="991D13">
                <a:lumMod val="79000"/>
              </a:srgbClr>
            </a:gs>
            <a:gs pos="4000">
              <a:srgbClr val="41140B"/>
            </a:gs>
          </a:gsLst>
          <a:lin ang="2700000" scaled="1"/>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ACDECC7-2B92-49EA-A87A-CDB0E892FBD9}" type="datetimeFigureOut">
              <a:rPr lang="en-IN" smtClean="0"/>
              <a:t>28-11-2025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FA2AA7B-1214-4015-A176-A390C2053335}" type="slidenum">
              <a:rPr lang="en-IN" smtClean="0"/>
              <a:t>‹#›</a:t>
            </a:fld>
            <a:endParaRPr lang="en-IN"/>
          </a:p>
        </p:txBody>
      </p:sp>
    </p:spTree>
    <p:extLst>
      <p:ext uri="{BB962C8B-B14F-4D97-AF65-F5344CB8AC3E}">
        <p14:creationId xmlns:p14="http://schemas.microsoft.com/office/powerpoint/2010/main" val="22361067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image" Target="../media/image1.png" /><Relationship Id="rId1" Type="http://schemas.openxmlformats.org/officeDocument/2006/relationships/slideLayout" Target="../slideLayouts/slideLayout2.xml" /><Relationship Id="rId5" Type="http://schemas.openxmlformats.org/officeDocument/2006/relationships/image" Target="../media/image4.png" /><Relationship Id="rId4" Type="http://schemas.openxmlformats.org/officeDocument/2006/relationships/image" Target="../media/image3.png"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3" Type="http://schemas.openxmlformats.org/officeDocument/2006/relationships/image" Target="../media/image6.jpeg" /><Relationship Id="rId2" Type="http://schemas.openxmlformats.org/officeDocument/2006/relationships/image" Target="../media/image5.jpeg" /><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3" Type="http://schemas.openxmlformats.org/officeDocument/2006/relationships/image" Target="../media/image8.tmp" /><Relationship Id="rId2" Type="http://schemas.openxmlformats.org/officeDocument/2006/relationships/image" Target="../media/image7.tmp" /><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2" Type="http://schemas.openxmlformats.org/officeDocument/2006/relationships/image" Target="../media/image9.tmp" /><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3" Type="http://schemas.openxmlformats.org/officeDocument/2006/relationships/image" Target="../media/image11.jpeg" /><Relationship Id="rId2" Type="http://schemas.openxmlformats.org/officeDocument/2006/relationships/image" Target="../media/image10.jpeg" /><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3" Type="http://schemas.openxmlformats.org/officeDocument/2006/relationships/image" Target="../media/image13.jpeg" /><Relationship Id="rId2" Type="http://schemas.openxmlformats.org/officeDocument/2006/relationships/image" Target="../media/image12.tmp" /><Relationship Id="rId1"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 standalone="yes"?>
<Relationships xmlns="http://schemas.openxmlformats.org/package/2006/relationships"><Relationship Id="rId2" Type="http://schemas.openxmlformats.org/officeDocument/2006/relationships/image" Target="../media/image14.tmp" /><Relationship Id="rId1" Type="http://schemas.openxmlformats.org/officeDocument/2006/relationships/slideLayout" Target="../slideLayouts/slideLayout2.xml" /></Relationships>
</file>

<file path=ppt/slides/_rels/slide14.xml.rels><?xml version="1.0" encoding="UTF-8" standalone="yes"?>
<Relationships xmlns="http://schemas.openxmlformats.org/package/2006/relationships"><Relationship Id="rId2" Type="http://schemas.openxmlformats.org/officeDocument/2006/relationships/image" Target="../media/image15.emf" /><Relationship Id="rId1" Type="http://schemas.openxmlformats.org/officeDocument/2006/relationships/slideLayout" Target="../slideLayouts/slideLayout7.xml" /></Relationships>
</file>

<file path=ppt/slides/_rels/slide15.xml.rels><?xml version="1.0" encoding="UTF-8" standalone="yes"?>
<Relationships xmlns="http://schemas.openxmlformats.org/package/2006/relationships"><Relationship Id="rId2" Type="http://schemas.openxmlformats.org/officeDocument/2006/relationships/image" Target="../media/image16.emf" /><Relationship Id="rId1" Type="http://schemas.openxmlformats.org/officeDocument/2006/relationships/slideLayout" Target="../slideLayouts/slideLayout7.xml" /></Relationships>
</file>

<file path=ppt/slides/_rels/slide16.xml.rels><?xml version="1.0" encoding="UTF-8" standalone="yes"?>
<Relationships xmlns="http://schemas.openxmlformats.org/package/2006/relationships"><Relationship Id="rId2" Type="http://schemas.openxmlformats.org/officeDocument/2006/relationships/image" Target="../media/image17.tmp" /><Relationship Id="rId1" Type="http://schemas.openxmlformats.org/officeDocument/2006/relationships/slideLayout" Target="../slideLayouts/slideLayout7.xml" /></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070587" y="2586919"/>
            <a:ext cx="10515600" cy="1325563"/>
          </a:xfrm>
        </p:spPr>
        <p:txBody>
          <a:bodyPr>
            <a:noAutofit/>
          </a:bodyPr>
          <a:lstStyle/>
          <a:p>
            <a:pPr algn="ctr">
              <a:lnSpc>
                <a:spcPct val="150000"/>
              </a:lnSpc>
            </a:pPr>
            <a:r>
              <a:rPr lang="en-US" sz="3600" b="1" dirty="0">
                <a:solidFill>
                  <a:schemeClr val="accent4"/>
                </a:solidFill>
                <a:latin typeface="Roboto"/>
              </a:rPr>
              <a:t>Movie Ticket Booking System</a:t>
            </a:r>
            <a:endParaRPr lang="en-IN" sz="4000" b="1" dirty="0">
              <a:solidFill>
                <a:schemeClr val="accent4"/>
              </a:solidFill>
            </a:endParaRPr>
          </a:p>
        </p:txBody>
      </p:sp>
    </p:spTree>
    <p:extLst>
      <p:ext uri="{BB962C8B-B14F-4D97-AF65-F5344CB8AC3E}">
        <p14:creationId xmlns:p14="http://schemas.microsoft.com/office/powerpoint/2010/main" val="14460527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object 3"/>
          <p:cNvSpPr/>
          <p:nvPr/>
        </p:nvSpPr>
        <p:spPr>
          <a:xfrm>
            <a:off x="0" y="435416"/>
            <a:ext cx="211015" cy="450849"/>
          </a:xfrm>
          <a:custGeom>
            <a:avLst/>
            <a:gdLst/>
            <a:ahLst/>
            <a:cxnLst/>
            <a:rect l="l" t="t" r="r" b="b"/>
            <a:pathLst>
              <a:path w="77470" h="177165">
                <a:moveTo>
                  <a:pt x="77076" y="0"/>
                </a:moveTo>
                <a:lnTo>
                  <a:pt x="0" y="0"/>
                </a:lnTo>
                <a:lnTo>
                  <a:pt x="0" y="176936"/>
                </a:lnTo>
                <a:lnTo>
                  <a:pt x="77076" y="176936"/>
                </a:lnTo>
                <a:lnTo>
                  <a:pt x="77076" y="0"/>
                </a:lnTo>
                <a:close/>
              </a:path>
            </a:pathLst>
          </a:custGeom>
          <a:solidFill>
            <a:srgbClr val="D92129"/>
          </a:solidFill>
        </p:spPr>
        <p:txBody>
          <a:bodyPr wrap="square" lIns="0" tIns="0" rIns="0" bIns="0" rtlCol="0"/>
          <a:lstStyle/>
          <a:p>
            <a:endParaRPr/>
          </a:p>
        </p:txBody>
      </p:sp>
      <p:sp>
        <p:nvSpPr>
          <p:cNvPr id="4" name="Title 3"/>
          <p:cNvSpPr>
            <a:spLocks noGrp="1"/>
          </p:cNvSpPr>
          <p:nvPr>
            <p:ph type="title"/>
          </p:nvPr>
        </p:nvSpPr>
        <p:spPr>
          <a:xfrm>
            <a:off x="816017" y="0"/>
            <a:ext cx="10515600" cy="1325563"/>
          </a:xfrm>
        </p:spPr>
        <p:txBody>
          <a:bodyPr>
            <a:normAutofit/>
          </a:bodyPr>
          <a:lstStyle/>
          <a:p>
            <a:pPr marL="12700">
              <a:lnSpc>
                <a:spcPct val="100000"/>
              </a:lnSpc>
              <a:spcBef>
                <a:spcPts val="115"/>
              </a:spcBef>
            </a:pPr>
            <a:r>
              <a:rPr lang="en-US" sz="2000" b="1" spc="-15" dirty="0">
                <a:solidFill>
                  <a:srgbClr val="D82128"/>
                </a:solidFill>
                <a:latin typeface="Roboto"/>
                <a:cs typeface="Roboto"/>
              </a:rPr>
              <a:t>AIM OF THE PROJECT</a:t>
            </a:r>
            <a:endParaRPr lang="en-US" sz="2000" b="1" dirty="0">
              <a:latin typeface="Roboto"/>
              <a:cs typeface="Roboto"/>
            </a:endParaRPr>
          </a:p>
        </p:txBody>
      </p:sp>
      <p:sp>
        <p:nvSpPr>
          <p:cNvPr id="5" name="Content Placeholder 4"/>
          <p:cNvSpPr>
            <a:spLocks noGrp="1"/>
          </p:cNvSpPr>
          <p:nvPr>
            <p:ph idx="1"/>
          </p:nvPr>
        </p:nvSpPr>
        <p:spPr>
          <a:xfrm>
            <a:off x="816017" y="1119501"/>
            <a:ext cx="11100231" cy="5380071"/>
          </a:xfrm>
        </p:spPr>
        <p:txBody>
          <a:bodyPr vert="horz" lIns="91440" tIns="45720" rIns="91440" bIns="45720" rtlCol="0" anchor="t">
            <a:normAutofit/>
          </a:bodyPr>
          <a:lstStyle/>
          <a:p>
            <a:pPr algn="just">
              <a:lnSpc>
                <a:spcPct val="150000"/>
              </a:lnSpc>
              <a:buFont typeface="Wingdings" panose="05000000000000000000" pitchFamily="2" charset="2"/>
              <a:buChar char="Ø"/>
            </a:pPr>
            <a:r>
              <a:rPr lang="en-US" sz="1600" dirty="0">
                <a:latin typeface="Roboto regular"/>
              </a:rPr>
              <a:t>Online Movie Ticket Booking System is a web app to provide the users’ </a:t>
            </a:r>
            <a:r>
              <a:rPr lang="en-US" sz="1600" b="1" dirty="0">
                <a:solidFill>
                  <a:srgbClr val="C00000"/>
                </a:solidFill>
                <a:latin typeface="Roboto regular"/>
              </a:rPr>
              <a:t>facility to book tickets for a show</a:t>
            </a:r>
            <a:r>
              <a:rPr lang="en-US" sz="1600" dirty="0">
                <a:latin typeface="Roboto regular"/>
              </a:rPr>
              <a:t> and to collect information </a:t>
            </a:r>
            <a:r>
              <a:rPr lang="en-US" sz="1600" b="1" dirty="0">
                <a:solidFill>
                  <a:srgbClr val="C00000"/>
                </a:solidFill>
                <a:latin typeface="Roboto regular"/>
              </a:rPr>
              <a:t>regarding the films and theaters</a:t>
            </a:r>
            <a:r>
              <a:rPr lang="en-US" sz="1600" dirty="0">
                <a:latin typeface="Roboto regular"/>
              </a:rPr>
              <a:t>. </a:t>
            </a:r>
          </a:p>
          <a:p>
            <a:pPr algn="just">
              <a:lnSpc>
                <a:spcPct val="150000"/>
              </a:lnSpc>
              <a:buFont typeface="Wingdings" panose="05000000000000000000" pitchFamily="2" charset="2"/>
              <a:buChar char="Ø"/>
            </a:pPr>
            <a:r>
              <a:rPr lang="en-US" sz="1600" dirty="0">
                <a:latin typeface="Roboto regular"/>
              </a:rPr>
              <a:t>Client has to register at the </a:t>
            </a:r>
            <a:r>
              <a:rPr lang="en-US" sz="1600" b="1" dirty="0">
                <a:solidFill>
                  <a:srgbClr val="C00000"/>
                </a:solidFill>
                <a:latin typeface="Roboto regular"/>
              </a:rPr>
              <a:t>positioning to book tickets to the show</a:t>
            </a:r>
            <a:r>
              <a:rPr lang="en-US" sz="1600" dirty="0">
                <a:latin typeface="Roboto regular"/>
              </a:rPr>
              <a:t>. When </a:t>
            </a:r>
            <a:r>
              <a:rPr lang="en-US" sz="1600" b="1" dirty="0">
                <a:solidFill>
                  <a:srgbClr val="C00000"/>
                </a:solidFill>
                <a:latin typeface="Roboto regular"/>
              </a:rPr>
              <a:t>choosing the show</a:t>
            </a:r>
            <a:r>
              <a:rPr lang="en-US" sz="1600" dirty="0">
                <a:latin typeface="Roboto regular"/>
              </a:rPr>
              <a:t>, the user is given a seating layout in order that he will choose seats of his selection. </a:t>
            </a:r>
          </a:p>
          <a:p>
            <a:pPr algn="just">
              <a:lnSpc>
                <a:spcPct val="150000"/>
              </a:lnSpc>
              <a:buFont typeface="Wingdings" panose="05000000000000000000" pitchFamily="2" charset="2"/>
              <a:buChar char="Ø"/>
            </a:pPr>
            <a:r>
              <a:rPr lang="en-US" sz="1600" dirty="0">
                <a:latin typeface="Roboto regular"/>
              </a:rPr>
              <a:t>Thenceforth he's redirected to the payment entryway for creating a group action. User will update his profile, take a print out of the price tag and conjointly </a:t>
            </a:r>
            <a:r>
              <a:rPr lang="en-US" sz="1600" b="1" dirty="0">
                <a:solidFill>
                  <a:srgbClr val="C00000"/>
                </a:solidFill>
                <a:latin typeface="Roboto regular"/>
              </a:rPr>
              <a:t>read his booking history</a:t>
            </a:r>
            <a:r>
              <a:rPr lang="en-US" sz="1600" dirty="0">
                <a:latin typeface="Roboto regular"/>
              </a:rPr>
              <a:t>.</a:t>
            </a:r>
          </a:p>
          <a:p>
            <a:pPr algn="just">
              <a:lnSpc>
                <a:spcPct val="150000"/>
              </a:lnSpc>
              <a:buFont typeface="Wingdings" panose="05000000000000000000" pitchFamily="2" charset="2"/>
              <a:buChar char="Ø"/>
            </a:pPr>
            <a:r>
              <a:rPr lang="en-US" sz="1600" dirty="0">
                <a:latin typeface="Roboto regular"/>
              </a:rPr>
              <a:t> The most aim of the project is any user they can access the system through web site at any time while not planning to the corporate.</a:t>
            </a:r>
          </a:p>
          <a:p>
            <a:pPr algn="just">
              <a:lnSpc>
                <a:spcPct val="150000"/>
              </a:lnSpc>
              <a:buFont typeface="Wingdings" panose="05000000000000000000" pitchFamily="2" charset="2"/>
              <a:buChar char="Ø"/>
            </a:pPr>
            <a:r>
              <a:rPr lang="en-US" sz="1600" dirty="0">
                <a:latin typeface="Roboto regular"/>
              </a:rPr>
              <a:t> As a replacement user conjointly he will collect all info like as </a:t>
            </a:r>
            <a:r>
              <a:rPr lang="en-US" sz="1600" b="1" dirty="0">
                <a:solidFill>
                  <a:srgbClr val="C00000"/>
                </a:solidFill>
                <a:latin typeface="Roboto regular"/>
              </a:rPr>
              <a:t>movies out there, list of theatres</a:t>
            </a:r>
            <a:r>
              <a:rPr lang="en-US" sz="1600" dirty="0">
                <a:latin typeface="Roboto regular"/>
              </a:rPr>
              <a:t>.</a:t>
            </a:r>
            <a:endParaRPr lang="en-IN" sz="1600" dirty="0">
              <a:latin typeface="Roboto regular"/>
            </a:endParaRPr>
          </a:p>
          <a:p>
            <a:pPr marL="0" indent="0" algn="just">
              <a:lnSpc>
                <a:spcPct val="150000"/>
              </a:lnSpc>
              <a:buNone/>
            </a:pPr>
            <a:endParaRPr lang="en-US" sz="1600" dirty="0">
              <a:solidFill>
                <a:srgbClr val="000000"/>
              </a:solidFill>
              <a:latin typeface="RobotoRegular"/>
            </a:endParaRPr>
          </a:p>
        </p:txBody>
      </p:sp>
    </p:spTree>
    <p:extLst>
      <p:ext uri="{BB962C8B-B14F-4D97-AF65-F5344CB8AC3E}">
        <p14:creationId xmlns:p14="http://schemas.microsoft.com/office/powerpoint/2010/main" val="1316210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object 3"/>
          <p:cNvSpPr/>
          <p:nvPr/>
        </p:nvSpPr>
        <p:spPr>
          <a:xfrm>
            <a:off x="0" y="435416"/>
            <a:ext cx="211015" cy="450849"/>
          </a:xfrm>
          <a:custGeom>
            <a:avLst/>
            <a:gdLst/>
            <a:ahLst/>
            <a:cxnLst/>
            <a:rect l="l" t="t" r="r" b="b"/>
            <a:pathLst>
              <a:path w="77470" h="177165">
                <a:moveTo>
                  <a:pt x="77076" y="0"/>
                </a:moveTo>
                <a:lnTo>
                  <a:pt x="0" y="0"/>
                </a:lnTo>
                <a:lnTo>
                  <a:pt x="0" y="176936"/>
                </a:lnTo>
                <a:lnTo>
                  <a:pt x="77076" y="176936"/>
                </a:lnTo>
                <a:lnTo>
                  <a:pt x="77076" y="0"/>
                </a:lnTo>
                <a:close/>
              </a:path>
            </a:pathLst>
          </a:custGeom>
          <a:solidFill>
            <a:srgbClr val="D92129"/>
          </a:solidFill>
        </p:spPr>
        <p:txBody>
          <a:bodyPr wrap="square" lIns="0" tIns="0" rIns="0" bIns="0" rtlCol="0"/>
          <a:lstStyle/>
          <a:p>
            <a:endParaRPr/>
          </a:p>
        </p:txBody>
      </p:sp>
      <p:sp>
        <p:nvSpPr>
          <p:cNvPr id="5" name="Title 4"/>
          <p:cNvSpPr>
            <a:spLocks noGrp="1"/>
          </p:cNvSpPr>
          <p:nvPr>
            <p:ph type="title"/>
          </p:nvPr>
        </p:nvSpPr>
        <p:spPr>
          <a:xfrm>
            <a:off x="709411" y="371165"/>
            <a:ext cx="10515600" cy="702062"/>
          </a:xfrm>
        </p:spPr>
        <p:txBody>
          <a:bodyPr>
            <a:normAutofit/>
          </a:bodyPr>
          <a:lstStyle/>
          <a:p>
            <a:r>
              <a:rPr lang="en-US" sz="2000" b="1" spc="-15" dirty="0">
                <a:solidFill>
                  <a:srgbClr val="D82128"/>
                </a:solidFill>
                <a:latin typeface="Roboto"/>
                <a:cs typeface="Roboto"/>
              </a:rPr>
              <a:t>OBJECTIVE OF THIS PROJECT</a:t>
            </a:r>
            <a:endParaRPr lang="en-IN" sz="2000" dirty="0"/>
          </a:p>
        </p:txBody>
      </p:sp>
      <p:sp>
        <p:nvSpPr>
          <p:cNvPr id="2" name="Content Placeholder 1"/>
          <p:cNvSpPr>
            <a:spLocks noGrp="1"/>
          </p:cNvSpPr>
          <p:nvPr>
            <p:ph idx="1"/>
          </p:nvPr>
        </p:nvSpPr>
        <p:spPr>
          <a:xfrm>
            <a:off x="1047841" y="1073227"/>
            <a:ext cx="10515600" cy="4899532"/>
          </a:xfrm>
        </p:spPr>
        <p:txBody>
          <a:bodyPr>
            <a:normAutofit fontScale="92500" lnSpcReduction="20000"/>
          </a:bodyPr>
          <a:lstStyle/>
          <a:p>
            <a:pPr>
              <a:lnSpc>
                <a:spcPct val="150000"/>
              </a:lnSpc>
              <a:buFont typeface="Wingdings" panose="05000000000000000000" pitchFamily="2" charset="2"/>
              <a:buChar char="Ø"/>
            </a:pPr>
            <a:r>
              <a:rPr lang="en-US" sz="1600" dirty="0">
                <a:latin typeface="Roboto regular"/>
              </a:rPr>
              <a:t>The main purpose of our online ticket booking system is to provide another way for the customer to buy cinema ticket. It is an automatic system.</a:t>
            </a:r>
            <a:endParaRPr lang="en-IN" sz="1600" dirty="0">
              <a:latin typeface="Roboto regular"/>
            </a:endParaRPr>
          </a:p>
          <a:p>
            <a:pPr lvl="0">
              <a:lnSpc>
                <a:spcPct val="150000"/>
              </a:lnSpc>
              <a:buFont typeface="Wingdings" panose="05000000000000000000" pitchFamily="2" charset="2"/>
              <a:buChar char="Ø"/>
            </a:pPr>
            <a:r>
              <a:rPr lang="en-US" sz="1600" dirty="0">
                <a:latin typeface="Roboto regular"/>
              </a:rPr>
              <a:t>After inserting the data to database, staff need not to due with the order receive through the system. In fact, there is similar system on the internet, but there is no refund method found in the existing system.</a:t>
            </a:r>
            <a:endParaRPr lang="en-IN" sz="1600" dirty="0">
              <a:latin typeface="Roboto regular"/>
            </a:endParaRPr>
          </a:p>
          <a:p>
            <a:pPr lvl="0">
              <a:lnSpc>
                <a:spcPct val="150000"/>
              </a:lnSpc>
              <a:buFont typeface="Wingdings" panose="05000000000000000000" pitchFamily="2" charset="2"/>
              <a:buChar char="Ø"/>
            </a:pPr>
            <a:r>
              <a:rPr lang="en-US" sz="1600" dirty="0">
                <a:latin typeface="Roboto regular"/>
              </a:rPr>
              <a:t>This system is basically aimed to provide the customer the complete information of the movie, according to which the customer can book the tickets and the refund facility provides more flexibility to the system.</a:t>
            </a:r>
            <a:endParaRPr lang="en-IN" sz="1600" dirty="0">
              <a:latin typeface="Roboto regular"/>
            </a:endParaRPr>
          </a:p>
          <a:p>
            <a:pPr marL="0" lvl="0" indent="0">
              <a:lnSpc>
                <a:spcPct val="150000"/>
              </a:lnSpc>
              <a:buNone/>
            </a:pPr>
            <a:r>
              <a:rPr lang="en-US" sz="1600" dirty="0">
                <a:latin typeface="Roboto regular"/>
              </a:rPr>
              <a:t>The goals of our system are:</a:t>
            </a:r>
            <a:endParaRPr lang="en-IN" sz="1600" dirty="0">
              <a:latin typeface="Roboto regular"/>
            </a:endParaRPr>
          </a:p>
          <a:p>
            <a:pPr lvl="0">
              <a:lnSpc>
                <a:spcPct val="150000"/>
              </a:lnSpc>
              <a:buFont typeface="Wingdings" panose="05000000000000000000" pitchFamily="2" charset="2"/>
              <a:buChar char="Ø"/>
            </a:pPr>
            <a:r>
              <a:rPr lang="en-US" sz="1600" dirty="0">
                <a:latin typeface="Roboto regular"/>
              </a:rPr>
              <a:t>To provide a anytime anyplace service for the customer</a:t>
            </a:r>
            <a:endParaRPr lang="en-IN" sz="1600" dirty="0">
              <a:latin typeface="Roboto regular"/>
            </a:endParaRPr>
          </a:p>
          <a:p>
            <a:pPr lvl="0">
              <a:lnSpc>
                <a:spcPct val="150000"/>
              </a:lnSpc>
              <a:buFont typeface="Wingdings" panose="05000000000000000000" pitchFamily="2" charset="2"/>
              <a:buChar char="Ø"/>
            </a:pPr>
            <a:r>
              <a:rPr lang="en-US" sz="1600" dirty="0">
                <a:latin typeface="Roboto regular"/>
              </a:rPr>
              <a:t>To minimize the number of staff at the ticket box</a:t>
            </a:r>
            <a:endParaRPr lang="en-IN" sz="1600" dirty="0">
              <a:latin typeface="Roboto regular"/>
            </a:endParaRPr>
          </a:p>
          <a:p>
            <a:pPr lvl="0">
              <a:lnSpc>
                <a:spcPct val="150000"/>
              </a:lnSpc>
              <a:buFont typeface="Wingdings" panose="05000000000000000000" pitchFamily="2" charset="2"/>
              <a:buChar char="Ø"/>
            </a:pPr>
            <a:r>
              <a:rPr lang="en-US" sz="1600" dirty="0">
                <a:latin typeface="Roboto regular"/>
              </a:rPr>
              <a:t>To promote the film on the internet</a:t>
            </a:r>
            <a:endParaRPr lang="en-IN" sz="1600" dirty="0">
              <a:latin typeface="Roboto regular"/>
            </a:endParaRPr>
          </a:p>
          <a:p>
            <a:pPr lvl="0">
              <a:lnSpc>
                <a:spcPct val="150000"/>
              </a:lnSpc>
              <a:buFont typeface="Wingdings" panose="05000000000000000000" pitchFamily="2" charset="2"/>
              <a:buChar char="Ø"/>
            </a:pPr>
            <a:r>
              <a:rPr lang="en-US" sz="1600" dirty="0">
                <a:latin typeface="Roboto regular"/>
              </a:rPr>
              <a:t>To increase the profit</a:t>
            </a:r>
            <a:endParaRPr lang="en-IN" sz="1600" dirty="0">
              <a:latin typeface="Roboto regular"/>
            </a:endParaRPr>
          </a:p>
          <a:p>
            <a:pPr lvl="0">
              <a:lnSpc>
                <a:spcPct val="150000"/>
              </a:lnSpc>
              <a:buFont typeface="Wingdings" panose="05000000000000000000" pitchFamily="2" charset="2"/>
              <a:buChar char="Ø"/>
            </a:pPr>
            <a:r>
              <a:rPr lang="en-US" sz="1600" dirty="0">
                <a:latin typeface="Roboto regular"/>
              </a:rPr>
              <a:t>To obtain statistic information from the booking record</a:t>
            </a:r>
            <a:endParaRPr lang="en-IN" sz="1600" dirty="0">
              <a:latin typeface="Roboto regular"/>
            </a:endParaRPr>
          </a:p>
        </p:txBody>
      </p:sp>
    </p:spTree>
    <p:extLst>
      <p:ext uri="{BB962C8B-B14F-4D97-AF65-F5344CB8AC3E}">
        <p14:creationId xmlns:p14="http://schemas.microsoft.com/office/powerpoint/2010/main" val="26982849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76837" y="252559"/>
            <a:ext cx="10515600" cy="816561"/>
          </a:xfrm>
        </p:spPr>
        <p:txBody>
          <a:bodyPr>
            <a:normAutofit/>
          </a:bodyPr>
          <a:lstStyle/>
          <a:p>
            <a:r>
              <a:rPr lang="en-US" sz="2000" b="1" spc="-15" dirty="0">
                <a:solidFill>
                  <a:srgbClr val="D82128"/>
                </a:solidFill>
                <a:latin typeface="Roboto"/>
              </a:rPr>
              <a:t>SOFTWARE AND HARDWARE REQUIREMENTS</a:t>
            </a:r>
            <a:endParaRPr lang="en-IN" sz="2000" dirty="0"/>
          </a:p>
        </p:txBody>
      </p:sp>
      <p:sp>
        <p:nvSpPr>
          <p:cNvPr id="4" name="Content Placeholder 3"/>
          <p:cNvSpPr>
            <a:spLocks noGrp="1"/>
          </p:cNvSpPr>
          <p:nvPr>
            <p:ph idx="1"/>
          </p:nvPr>
        </p:nvSpPr>
        <p:spPr>
          <a:xfrm>
            <a:off x="876837" y="1066743"/>
            <a:ext cx="10515600" cy="5290698"/>
          </a:xfrm>
        </p:spPr>
        <p:txBody>
          <a:bodyPr>
            <a:noAutofit/>
          </a:bodyPr>
          <a:lstStyle/>
          <a:p>
            <a:pPr marL="0" indent="0">
              <a:buNone/>
            </a:pPr>
            <a:r>
              <a:rPr lang="en-IN" sz="1200" b="1" spc="-35" dirty="0">
                <a:solidFill>
                  <a:srgbClr val="DA2727"/>
                </a:solidFill>
                <a:latin typeface="Roboto"/>
                <a:cs typeface="Roboto"/>
              </a:rPr>
              <a:t>HARDWARE </a:t>
            </a:r>
            <a:r>
              <a:rPr lang="en-US" sz="1200" b="1" spc="-35" dirty="0">
                <a:solidFill>
                  <a:srgbClr val="DA2727"/>
                </a:solidFill>
                <a:latin typeface="Roboto"/>
                <a:cs typeface="Roboto"/>
              </a:rPr>
              <a:t>REQUIREMENTS </a:t>
            </a:r>
            <a:r>
              <a:rPr lang="en-IN" sz="1200" b="1" spc="-35" dirty="0">
                <a:solidFill>
                  <a:srgbClr val="DA2727"/>
                </a:solidFill>
                <a:latin typeface="Roboto"/>
                <a:cs typeface="Roboto"/>
              </a:rPr>
              <a:t>:</a:t>
            </a:r>
          </a:p>
          <a:p>
            <a:pPr lvl="0">
              <a:buFont typeface="Wingdings" panose="05000000000000000000" pitchFamily="2" charset="2"/>
              <a:buChar char="Ø"/>
            </a:pPr>
            <a:r>
              <a:rPr lang="en-US" sz="1200" dirty="0">
                <a:latin typeface="RobotoRegular"/>
              </a:rPr>
              <a:t>Processor	  :    Intel 5</a:t>
            </a:r>
            <a:endParaRPr lang="en-IN" sz="1200" dirty="0">
              <a:latin typeface="RobotoRegular"/>
            </a:endParaRPr>
          </a:p>
          <a:p>
            <a:pPr lvl="0">
              <a:buFont typeface="Wingdings" panose="05000000000000000000" pitchFamily="2" charset="2"/>
              <a:buChar char="Ø"/>
            </a:pPr>
            <a:r>
              <a:rPr lang="en-US" sz="1200" dirty="0">
                <a:latin typeface="RobotoRegular"/>
              </a:rPr>
              <a:t>Motherboard                 	  :    Intel mother board – VTx Enabled</a:t>
            </a:r>
            <a:endParaRPr lang="en-IN" sz="1200" dirty="0">
              <a:latin typeface="RobotoRegular"/>
            </a:endParaRPr>
          </a:p>
          <a:p>
            <a:pPr lvl="0">
              <a:buFont typeface="Wingdings" panose="05000000000000000000" pitchFamily="2" charset="2"/>
              <a:buChar char="Ø"/>
            </a:pPr>
            <a:r>
              <a:rPr lang="en-US" sz="1200" dirty="0">
                <a:latin typeface="RobotoRegular"/>
              </a:rPr>
              <a:t>Ram		  :     8 gb </a:t>
            </a:r>
            <a:endParaRPr lang="en-IN" sz="1200" dirty="0">
              <a:latin typeface="RobotoRegular"/>
            </a:endParaRPr>
          </a:p>
          <a:p>
            <a:pPr lvl="0">
              <a:buFont typeface="Wingdings" panose="05000000000000000000" pitchFamily="2" charset="2"/>
              <a:buChar char="Ø"/>
            </a:pPr>
            <a:r>
              <a:rPr lang="en-US" sz="1200" dirty="0">
                <a:latin typeface="RobotoRegular"/>
              </a:rPr>
              <a:t>Hard disk drive	  :     500 gb</a:t>
            </a:r>
          </a:p>
          <a:p>
            <a:pPr marL="0" lvl="0" indent="0">
              <a:buNone/>
            </a:pPr>
            <a:endParaRPr lang="en-IN" sz="1200" b="1" dirty="0">
              <a:latin typeface="Roboto"/>
              <a:cs typeface="Roboto"/>
            </a:endParaRPr>
          </a:p>
          <a:p>
            <a:pPr marL="0" indent="0">
              <a:buNone/>
            </a:pPr>
            <a:r>
              <a:rPr lang="en-IN" sz="1200" b="1" spc="-35" dirty="0">
                <a:solidFill>
                  <a:srgbClr val="DA2727"/>
                </a:solidFill>
                <a:latin typeface="Roboto"/>
                <a:cs typeface="Roboto"/>
              </a:rPr>
              <a:t>SOFTWARE </a:t>
            </a:r>
            <a:r>
              <a:rPr lang="en-US" sz="1200" b="1" spc="-35" dirty="0">
                <a:solidFill>
                  <a:srgbClr val="DA2727"/>
                </a:solidFill>
                <a:latin typeface="Roboto"/>
                <a:cs typeface="Roboto"/>
              </a:rPr>
              <a:t>REQUIREMENTS </a:t>
            </a:r>
            <a:r>
              <a:rPr lang="en-IN" sz="1200" b="1" spc="-35" dirty="0">
                <a:solidFill>
                  <a:srgbClr val="DA2727"/>
                </a:solidFill>
                <a:latin typeface="Roboto"/>
                <a:cs typeface="Roboto"/>
              </a:rPr>
              <a:t>:</a:t>
            </a:r>
          </a:p>
          <a:p>
            <a:pPr>
              <a:buFont typeface="Wingdings" panose="05000000000000000000" pitchFamily="2" charset="2"/>
              <a:buChar char="Ø"/>
            </a:pPr>
            <a:r>
              <a:rPr lang="en-US" sz="1200" dirty="0">
                <a:latin typeface="RobotoRegular"/>
              </a:rPr>
              <a:t>Front end	: html5, css3, JavaScript, React.js</a:t>
            </a:r>
            <a:endParaRPr lang="en-IN" sz="1200" dirty="0">
              <a:latin typeface="RobotoRegular"/>
            </a:endParaRPr>
          </a:p>
          <a:p>
            <a:pPr>
              <a:buFont typeface="Wingdings" panose="05000000000000000000" pitchFamily="2" charset="2"/>
              <a:buChar char="Ø"/>
            </a:pPr>
            <a:r>
              <a:rPr lang="en-US" sz="1200" dirty="0">
                <a:latin typeface="RobotoRegular"/>
              </a:rPr>
              <a:t>Back end	: Node.js, Express.js, Mongoose</a:t>
            </a:r>
            <a:endParaRPr lang="en-IN" sz="1200" dirty="0">
              <a:latin typeface="RobotoRegular"/>
            </a:endParaRPr>
          </a:p>
          <a:p>
            <a:pPr>
              <a:buFont typeface="Wingdings" panose="05000000000000000000" pitchFamily="2" charset="2"/>
              <a:buChar char="Ø"/>
            </a:pPr>
            <a:r>
              <a:rPr lang="en-US" sz="1200" dirty="0">
                <a:latin typeface="RobotoRegular"/>
              </a:rPr>
              <a:t>Databse : MongoDB</a:t>
            </a:r>
          </a:p>
          <a:p>
            <a:pPr marL="0" indent="0">
              <a:buNone/>
            </a:pPr>
            <a:endParaRPr lang="en-US" sz="1200" dirty="0">
              <a:solidFill>
                <a:schemeClr val="tx1">
                  <a:lumMod val="65000"/>
                  <a:lumOff val="35000"/>
                </a:schemeClr>
              </a:solidFill>
              <a:latin typeface="RobotoRegular"/>
            </a:endParaRPr>
          </a:p>
          <a:p>
            <a:pPr marL="0" indent="0">
              <a:buNone/>
            </a:pPr>
            <a:r>
              <a:rPr lang="en-IN" sz="1200" b="1" spc="-35" dirty="0">
                <a:solidFill>
                  <a:srgbClr val="DA2727"/>
                </a:solidFill>
                <a:latin typeface="Roboto"/>
                <a:cs typeface="Roboto"/>
              </a:rPr>
              <a:t>TOOLS</a:t>
            </a:r>
            <a:r>
              <a:rPr lang="en-US" sz="1200" b="1" spc="-35" dirty="0">
                <a:solidFill>
                  <a:srgbClr val="DA2727"/>
                </a:solidFill>
                <a:latin typeface="Roboto"/>
                <a:cs typeface="Roboto"/>
              </a:rPr>
              <a:t> </a:t>
            </a:r>
            <a:r>
              <a:rPr lang="en-IN" sz="1200" b="1" spc="-35" dirty="0">
                <a:solidFill>
                  <a:srgbClr val="DA2727"/>
                </a:solidFill>
                <a:latin typeface="Roboto"/>
                <a:cs typeface="Roboto"/>
              </a:rPr>
              <a:t>:</a:t>
            </a:r>
            <a:endParaRPr lang="en-IN" sz="1200" dirty="0"/>
          </a:p>
          <a:p>
            <a:pPr>
              <a:buFont typeface="Wingdings" panose="05000000000000000000" pitchFamily="2" charset="2"/>
              <a:buChar char="Ø"/>
            </a:pPr>
            <a:r>
              <a:rPr lang="en-US" sz="1200" dirty="0">
                <a:latin typeface="RobotoRegular"/>
              </a:rPr>
              <a:t>Visual Studio Code	</a:t>
            </a:r>
            <a:endParaRPr lang="en-IN" sz="1200" dirty="0">
              <a:latin typeface="RobotoRegular"/>
            </a:endParaRPr>
          </a:p>
          <a:p>
            <a:pPr>
              <a:buFont typeface="Wingdings" panose="05000000000000000000" pitchFamily="2" charset="2"/>
              <a:buChar char="Ø"/>
            </a:pPr>
            <a:r>
              <a:rPr lang="en-US" sz="1200" dirty="0">
                <a:latin typeface="RobotoRegular"/>
              </a:rPr>
              <a:t>NPM Libraries</a:t>
            </a:r>
          </a:p>
          <a:p>
            <a:pPr>
              <a:buFont typeface="Wingdings" panose="05000000000000000000" pitchFamily="2" charset="2"/>
              <a:buChar char="Ø"/>
            </a:pPr>
            <a:r>
              <a:rPr lang="en-US" sz="1200" dirty="0">
                <a:latin typeface="RobotoRegular"/>
              </a:rPr>
              <a:t>Font Owsome Properties</a:t>
            </a:r>
          </a:p>
          <a:p>
            <a:pPr>
              <a:buFont typeface="Wingdings" panose="05000000000000000000" pitchFamily="2" charset="2"/>
              <a:buChar char="Ø"/>
            </a:pPr>
            <a:r>
              <a:rPr lang="en-US" sz="1200" dirty="0">
                <a:latin typeface="RobotoRegular"/>
              </a:rPr>
              <a:t>React + Vite</a:t>
            </a:r>
          </a:p>
          <a:p>
            <a:pPr>
              <a:buFont typeface="Wingdings" panose="05000000000000000000" pitchFamily="2" charset="2"/>
              <a:buChar char="Ø"/>
            </a:pPr>
            <a:endParaRPr lang="en-US" sz="1200" dirty="0">
              <a:latin typeface="RobotoRegular"/>
            </a:endParaRPr>
          </a:p>
          <a:p>
            <a:pPr>
              <a:buFont typeface="Wingdings" panose="05000000000000000000" pitchFamily="2" charset="2"/>
              <a:buChar char="Ø"/>
            </a:pPr>
            <a:endParaRPr lang="en-US" sz="1200" b="1" spc="-35" dirty="0">
              <a:solidFill>
                <a:srgbClr val="DA2727"/>
              </a:solidFill>
              <a:latin typeface="Roboto"/>
              <a:cs typeface="Roboto"/>
            </a:endParaRPr>
          </a:p>
          <a:p>
            <a:pPr marL="0" indent="0">
              <a:buNone/>
            </a:pPr>
            <a:endParaRPr lang="en-US" sz="1200" b="1" spc="-35" dirty="0">
              <a:solidFill>
                <a:srgbClr val="DA2727"/>
              </a:solidFill>
              <a:latin typeface="Roboto"/>
              <a:cs typeface="Roboto"/>
            </a:endParaRPr>
          </a:p>
          <a:p>
            <a:pPr marL="0" indent="0">
              <a:buNone/>
            </a:pPr>
            <a:endParaRPr lang="en-US" sz="1200" b="1" spc="-35" dirty="0">
              <a:solidFill>
                <a:srgbClr val="DA2727"/>
              </a:solidFill>
              <a:latin typeface="Roboto"/>
              <a:cs typeface="Roboto"/>
            </a:endParaRPr>
          </a:p>
          <a:p>
            <a:pPr marL="0" indent="0">
              <a:buNone/>
            </a:pPr>
            <a:endParaRPr lang="en-IN" sz="1050" b="1" spc="-35" dirty="0">
              <a:solidFill>
                <a:srgbClr val="DA2727"/>
              </a:solidFill>
              <a:latin typeface="Roboto"/>
              <a:cs typeface="Roboto"/>
            </a:endParaRPr>
          </a:p>
          <a:p>
            <a:pPr marL="0" indent="0">
              <a:buNone/>
            </a:pPr>
            <a:endParaRPr lang="en-IN" sz="1050" dirty="0">
              <a:solidFill>
                <a:schemeClr val="tx1">
                  <a:lumMod val="65000"/>
                  <a:lumOff val="35000"/>
                </a:schemeClr>
              </a:solidFill>
              <a:latin typeface="RobotoRegular"/>
            </a:endParaRPr>
          </a:p>
          <a:p>
            <a:pPr marL="0" indent="0">
              <a:buNone/>
            </a:pPr>
            <a:r>
              <a:rPr lang="en-US" sz="1200" dirty="0"/>
              <a:t> </a:t>
            </a:r>
            <a:endParaRPr lang="en-IN" sz="1200" dirty="0"/>
          </a:p>
          <a:p>
            <a:pPr marL="0" indent="0">
              <a:buNone/>
            </a:pPr>
            <a:endParaRPr lang="en-IN" sz="1200" b="1" spc="-35" dirty="0">
              <a:solidFill>
                <a:srgbClr val="DA2727"/>
              </a:solidFill>
              <a:latin typeface="Roboto"/>
              <a:cs typeface="Roboto"/>
            </a:endParaRPr>
          </a:p>
          <a:p>
            <a:pPr marL="0" indent="0">
              <a:buNone/>
            </a:pPr>
            <a:endParaRPr lang="en-IN" sz="1800" dirty="0"/>
          </a:p>
        </p:txBody>
      </p:sp>
      <p:sp>
        <p:nvSpPr>
          <p:cNvPr id="3" name="object 3"/>
          <p:cNvSpPr/>
          <p:nvPr/>
        </p:nvSpPr>
        <p:spPr>
          <a:xfrm>
            <a:off x="0" y="435416"/>
            <a:ext cx="211015" cy="450849"/>
          </a:xfrm>
          <a:custGeom>
            <a:avLst/>
            <a:gdLst/>
            <a:ahLst/>
            <a:cxnLst/>
            <a:rect l="l" t="t" r="r" b="b"/>
            <a:pathLst>
              <a:path w="77470" h="177165">
                <a:moveTo>
                  <a:pt x="77076" y="0"/>
                </a:moveTo>
                <a:lnTo>
                  <a:pt x="0" y="0"/>
                </a:lnTo>
                <a:lnTo>
                  <a:pt x="0" y="176936"/>
                </a:lnTo>
                <a:lnTo>
                  <a:pt x="77076" y="176936"/>
                </a:lnTo>
                <a:lnTo>
                  <a:pt x="77076" y="0"/>
                </a:lnTo>
                <a:close/>
              </a:path>
            </a:pathLst>
          </a:custGeom>
          <a:solidFill>
            <a:srgbClr val="D92129"/>
          </a:solidFill>
        </p:spPr>
        <p:txBody>
          <a:bodyPr wrap="square" lIns="0" tIns="0" rIns="0" bIns="0" rtlCol="0"/>
          <a:lstStyle/>
          <a:p>
            <a:endParaRPr/>
          </a:p>
        </p:txBody>
      </p:sp>
      <p:grpSp>
        <p:nvGrpSpPr>
          <p:cNvPr id="5" name="object 138"/>
          <p:cNvGrpSpPr/>
          <p:nvPr/>
        </p:nvGrpSpPr>
        <p:grpSpPr>
          <a:xfrm>
            <a:off x="7328080" y="1509884"/>
            <a:ext cx="3484808" cy="3706060"/>
            <a:chOff x="777926" y="5809361"/>
            <a:chExt cx="1541780" cy="1506220"/>
          </a:xfrm>
        </p:grpSpPr>
        <p:sp>
          <p:nvSpPr>
            <p:cNvPr id="6" name="object 139"/>
            <p:cNvSpPr/>
            <p:nvPr/>
          </p:nvSpPr>
          <p:spPr>
            <a:xfrm>
              <a:off x="1511973" y="5929757"/>
              <a:ext cx="80264" cy="101384"/>
            </a:xfrm>
            <a:prstGeom prst="rect">
              <a:avLst/>
            </a:prstGeom>
            <a:blipFill>
              <a:blip r:embed="rId2" cstate="print"/>
              <a:stretch>
                <a:fillRect/>
              </a:stretch>
            </a:blipFill>
          </p:spPr>
          <p:txBody>
            <a:bodyPr wrap="square" lIns="0" tIns="0" rIns="0" bIns="0" rtlCol="0"/>
            <a:lstStyle/>
            <a:p>
              <a:endParaRPr/>
            </a:p>
          </p:txBody>
        </p:sp>
        <p:sp>
          <p:nvSpPr>
            <p:cNvPr id="7" name="object 140"/>
            <p:cNvSpPr/>
            <p:nvPr/>
          </p:nvSpPr>
          <p:spPr>
            <a:xfrm>
              <a:off x="1286433" y="5884888"/>
              <a:ext cx="69697" cy="70980"/>
            </a:xfrm>
            <a:prstGeom prst="rect">
              <a:avLst/>
            </a:prstGeom>
            <a:blipFill>
              <a:blip r:embed="rId3" cstate="print"/>
              <a:stretch>
                <a:fillRect/>
              </a:stretch>
            </a:blipFill>
          </p:spPr>
          <p:txBody>
            <a:bodyPr wrap="square" lIns="0" tIns="0" rIns="0" bIns="0" rtlCol="0"/>
            <a:lstStyle/>
            <a:p>
              <a:endParaRPr/>
            </a:p>
          </p:txBody>
        </p:sp>
        <p:sp>
          <p:nvSpPr>
            <p:cNvPr id="8" name="object 141"/>
            <p:cNvSpPr/>
            <p:nvPr/>
          </p:nvSpPr>
          <p:spPr>
            <a:xfrm>
              <a:off x="2077300" y="6025909"/>
              <a:ext cx="15240" cy="83185"/>
            </a:xfrm>
            <a:custGeom>
              <a:avLst/>
              <a:gdLst/>
              <a:ahLst/>
              <a:cxnLst/>
              <a:rect l="l" t="t" r="r" b="b"/>
              <a:pathLst>
                <a:path w="15239" h="83185">
                  <a:moveTo>
                    <a:pt x="2730" y="0"/>
                  </a:moveTo>
                  <a:lnTo>
                    <a:pt x="0" y="82727"/>
                  </a:lnTo>
                  <a:lnTo>
                    <a:pt x="12204" y="83121"/>
                  </a:lnTo>
                  <a:lnTo>
                    <a:pt x="14935" y="406"/>
                  </a:lnTo>
                  <a:lnTo>
                    <a:pt x="2730" y="0"/>
                  </a:lnTo>
                  <a:close/>
                </a:path>
              </a:pathLst>
            </a:custGeom>
            <a:solidFill>
              <a:srgbClr val="AAC7E8"/>
            </a:solidFill>
          </p:spPr>
          <p:txBody>
            <a:bodyPr wrap="square" lIns="0" tIns="0" rIns="0" bIns="0" rtlCol="0"/>
            <a:lstStyle/>
            <a:p>
              <a:endParaRPr/>
            </a:p>
          </p:txBody>
        </p:sp>
        <p:sp>
          <p:nvSpPr>
            <p:cNvPr id="9" name="object 142"/>
            <p:cNvSpPr/>
            <p:nvPr/>
          </p:nvSpPr>
          <p:spPr>
            <a:xfrm>
              <a:off x="1666278" y="5809361"/>
              <a:ext cx="99161" cy="99174"/>
            </a:xfrm>
            <a:prstGeom prst="rect">
              <a:avLst/>
            </a:prstGeom>
            <a:blipFill>
              <a:blip r:embed="rId4" cstate="print"/>
              <a:stretch>
                <a:fillRect/>
              </a:stretch>
            </a:blipFill>
          </p:spPr>
          <p:txBody>
            <a:bodyPr wrap="square" lIns="0" tIns="0" rIns="0" bIns="0" rtlCol="0"/>
            <a:lstStyle/>
            <a:p>
              <a:endParaRPr/>
            </a:p>
          </p:txBody>
        </p:sp>
        <p:sp>
          <p:nvSpPr>
            <p:cNvPr id="10" name="object 143"/>
            <p:cNvSpPr/>
            <p:nvPr/>
          </p:nvSpPr>
          <p:spPr>
            <a:xfrm>
              <a:off x="777926" y="5886043"/>
              <a:ext cx="1541606" cy="1429130"/>
            </a:xfrm>
            <a:prstGeom prst="rect">
              <a:avLst/>
            </a:prstGeom>
            <a:blipFill>
              <a:blip r:embed="rId5" cstate="print"/>
              <a:stretch>
                <a:fillRect/>
              </a:stretch>
            </a:blipFill>
          </p:spPr>
          <p:txBody>
            <a:bodyPr wrap="square" lIns="0" tIns="0" rIns="0" bIns="0" rtlCol="0"/>
            <a:lstStyle/>
            <a:p>
              <a:endParaRPr/>
            </a:p>
          </p:txBody>
        </p:sp>
      </p:grpSp>
    </p:spTree>
    <p:extLst>
      <p:ext uri="{BB962C8B-B14F-4D97-AF65-F5344CB8AC3E}">
        <p14:creationId xmlns:p14="http://schemas.microsoft.com/office/powerpoint/2010/main" val="7271192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object 3"/>
          <p:cNvSpPr/>
          <p:nvPr/>
        </p:nvSpPr>
        <p:spPr>
          <a:xfrm>
            <a:off x="0" y="435416"/>
            <a:ext cx="211015" cy="450849"/>
          </a:xfrm>
          <a:custGeom>
            <a:avLst/>
            <a:gdLst/>
            <a:ahLst/>
            <a:cxnLst/>
            <a:rect l="l" t="t" r="r" b="b"/>
            <a:pathLst>
              <a:path w="77470" h="177165">
                <a:moveTo>
                  <a:pt x="77076" y="0"/>
                </a:moveTo>
                <a:lnTo>
                  <a:pt x="0" y="0"/>
                </a:lnTo>
                <a:lnTo>
                  <a:pt x="0" y="176936"/>
                </a:lnTo>
                <a:lnTo>
                  <a:pt x="77076" y="176936"/>
                </a:lnTo>
                <a:lnTo>
                  <a:pt x="77076" y="0"/>
                </a:lnTo>
                <a:close/>
              </a:path>
            </a:pathLst>
          </a:custGeom>
          <a:solidFill>
            <a:srgbClr val="D92129"/>
          </a:solidFill>
        </p:spPr>
        <p:txBody>
          <a:bodyPr wrap="square" lIns="0" tIns="0" rIns="0" bIns="0" rtlCol="0"/>
          <a:lstStyle/>
          <a:p>
            <a:endParaRPr/>
          </a:p>
        </p:txBody>
      </p:sp>
      <p:sp>
        <p:nvSpPr>
          <p:cNvPr id="3" name="Rectangle 2"/>
          <p:cNvSpPr/>
          <p:nvPr/>
        </p:nvSpPr>
        <p:spPr>
          <a:xfrm>
            <a:off x="897872" y="476174"/>
            <a:ext cx="2156360" cy="369332"/>
          </a:xfrm>
          <a:prstGeom prst="rect">
            <a:avLst/>
          </a:prstGeom>
        </p:spPr>
        <p:txBody>
          <a:bodyPr wrap="none">
            <a:spAutoFit/>
          </a:bodyPr>
          <a:lstStyle/>
          <a:p>
            <a:r>
              <a:rPr lang="en-US" b="1" spc="-15" dirty="0">
                <a:solidFill>
                  <a:srgbClr val="D82128"/>
                </a:solidFill>
                <a:latin typeface="Roboto"/>
              </a:rPr>
              <a:t>PURPOSE SYSTEM </a:t>
            </a:r>
            <a:endParaRPr lang="en-IN" dirty="0"/>
          </a:p>
        </p:txBody>
      </p:sp>
      <p:sp>
        <p:nvSpPr>
          <p:cNvPr id="5" name="Content Placeholder 4"/>
          <p:cNvSpPr>
            <a:spLocks noGrp="1"/>
          </p:cNvSpPr>
          <p:nvPr>
            <p:ph idx="1"/>
          </p:nvPr>
        </p:nvSpPr>
        <p:spPr>
          <a:xfrm>
            <a:off x="1000335" y="991718"/>
            <a:ext cx="10515600" cy="5005670"/>
          </a:xfrm>
        </p:spPr>
        <p:txBody>
          <a:bodyPr>
            <a:normAutofit/>
          </a:bodyPr>
          <a:lstStyle/>
          <a:p>
            <a:pPr algn="just">
              <a:lnSpc>
                <a:spcPct val="150000"/>
              </a:lnSpc>
              <a:buFont typeface="Wingdings" panose="05000000000000000000" pitchFamily="2" charset="2"/>
              <a:buChar char="Ø"/>
            </a:pPr>
            <a:r>
              <a:rPr lang="en-US" sz="1600" dirty="0">
                <a:latin typeface="Roboto regular"/>
              </a:rPr>
              <a:t>The main purpose of the online ticket booking and purchasing system is to provide a convenient way of customers to buy cinema tickets.</a:t>
            </a:r>
          </a:p>
          <a:p>
            <a:pPr algn="just">
              <a:lnSpc>
                <a:spcPct val="150000"/>
              </a:lnSpc>
              <a:buFont typeface="Wingdings" panose="05000000000000000000" pitchFamily="2" charset="2"/>
              <a:buChar char="Ø"/>
            </a:pPr>
            <a:r>
              <a:rPr lang="en-US" sz="1600" dirty="0">
                <a:latin typeface="Roboto regular"/>
              </a:rPr>
              <a:t> It is a real time system and though there are similar systems for more advanced countries, they do not provide an alternate online payment means such as the use of webs money from other telecommunication networks other than credit cards. </a:t>
            </a:r>
          </a:p>
          <a:p>
            <a:pPr algn="just">
              <a:lnSpc>
                <a:spcPct val="150000"/>
              </a:lnSpc>
              <a:buFont typeface="Wingdings" panose="05000000000000000000" pitchFamily="2" charset="2"/>
              <a:buChar char="Ø"/>
            </a:pPr>
            <a:r>
              <a:rPr lang="en-US" sz="1600" dirty="0">
                <a:latin typeface="Roboto regular"/>
              </a:rPr>
              <a:t>Also been able to watch a preview of the movie you want to purchase tickets for such as trailers and other shot scenes, and also receiving an SMS notification for the approval of your purchase.</a:t>
            </a:r>
            <a:endParaRPr lang="en-IN" sz="1600" dirty="0">
              <a:latin typeface="Roboto regular"/>
            </a:endParaRPr>
          </a:p>
          <a:p>
            <a:pPr marL="0" indent="0">
              <a:buNone/>
            </a:pPr>
            <a:endParaRPr lang="en-IN" dirty="0"/>
          </a:p>
        </p:txBody>
      </p:sp>
    </p:spTree>
    <p:extLst>
      <p:ext uri="{BB962C8B-B14F-4D97-AF65-F5344CB8AC3E}">
        <p14:creationId xmlns:p14="http://schemas.microsoft.com/office/powerpoint/2010/main" val="23787264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object 3"/>
          <p:cNvSpPr/>
          <p:nvPr/>
        </p:nvSpPr>
        <p:spPr>
          <a:xfrm>
            <a:off x="0" y="435416"/>
            <a:ext cx="211015" cy="450849"/>
          </a:xfrm>
          <a:custGeom>
            <a:avLst/>
            <a:gdLst/>
            <a:ahLst/>
            <a:cxnLst/>
            <a:rect l="l" t="t" r="r" b="b"/>
            <a:pathLst>
              <a:path w="77470" h="177165">
                <a:moveTo>
                  <a:pt x="77076" y="0"/>
                </a:moveTo>
                <a:lnTo>
                  <a:pt x="0" y="0"/>
                </a:lnTo>
                <a:lnTo>
                  <a:pt x="0" y="176936"/>
                </a:lnTo>
                <a:lnTo>
                  <a:pt x="77076" y="176936"/>
                </a:lnTo>
                <a:lnTo>
                  <a:pt x="77076" y="0"/>
                </a:lnTo>
                <a:close/>
              </a:path>
            </a:pathLst>
          </a:custGeom>
          <a:solidFill>
            <a:srgbClr val="D92129"/>
          </a:solidFill>
        </p:spPr>
        <p:txBody>
          <a:bodyPr wrap="square" lIns="0" tIns="0" rIns="0" bIns="0" rtlCol="0"/>
          <a:lstStyle/>
          <a:p>
            <a:endParaRPr/>
          </a:p>
        </p:txBody>
      </p:sp>
      <p:pic>
        <p:nvPicPr>
          <p:cNvPr id="7" name="Picture 6">
            <a:extLst>
              <a:ext uri="{FF2B5EF4-FFF2-40B4-BE49-F238E27FC236}">
                <a16:creationId xmlns:a16="http://schemas.microsoft.com/office/drawing/2014/main" id="{E0DFBCC0-F6F3-0F5B-FBCA-9347D44E795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2394" y="1326796"/>
            <a:ext cx="4982076" cy="3173767"/>
          </a:xfrm>
          <a:prstGeom prst="rect">
            <a:avLst/>
          </a:prstGeom>
        </p:spPr>
      </p:pic>
      <p:pic>
        <p:nvPicPr>
          <p:cNvPr id="8" name="Picture 7">
            <a:extLst>
              <a:ext uri="{FF2B5EF4-FFF2-40B4-BE49-F238E27FC236}">
                <a16:creationId xmlns:a16="http://schemas.microsoft.com/office/drawing/2014/main" id="{98C7E5BC-3B31-93AF-EAA3-F8BEF9E1FFB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68857" y="1326796"/>
            <a:ext cx="6000749" cy="3333750"/>
          </a:xfrm>
          <a:prstGeom prst="rect">
            <a:avLst/>
          </a:prstGeom>
        </p:spPr>
      </p:pic>
      <p:sp>
        <p:nvSpPr>
          <p:cNvPr id="10" name="Rectangle 9">
            <a:extLst>
              <a:ext uri="{FF2B5EF4-FFF2-40B4-BE49-F238E27FC236}">
                <a16:creationId xmlns:a16="http://schemas.microsoft.com/office/drawing/2014/main" id="{D263B16E-F6D2-E244-625C-091AD863DAC5}"/>
              </a:ext>
            </a:extLst>
          </p:cNvPr>
          <p:cNvSpPr/>
          <p:nvPr/>
        </p:nvSpPr>
        <p:spPr>
          <a:xfrm>
            <a:off x="1731211" y="660840"/>
            <a:ext cx="2007254" cy="369332"/>
          </a:xfrm>
          <a:prstGeom prst="rect">
            <a:avLst/>
          </a:prstGeom>
        </p:spPr>
        <p:txBody>
          <a:bodyPr wrap="square">
            <a:spAutoFit/>
          </a:bodyPr>
          <a:lstStyle/>
          <a:p>
            <a:r>
              <a:rPr lang="en-US" b="1" dirty="0">
                <a:solidFill>
                  <a:srgbClr val="B52217"/>
                </a:solidFill>
              </a:rPr>
              <a:t>Registration</a:t>
            </a:r>
            <a:endParaRPr lang="en-IN" b="1" dirty="0">
              <a:solidFill>
                <a:srgbClr val="B52217"/>
              </a:solidFill>
            </a:endParaRPr>
          </a:p>
        </p:txBody>
      </p:sp>
      <p:sp>
        <p:nvSpPr>
          <p:cNvPr id="12" name="Rectangle 11">
            <a:extLst>
              <a:ext uri="{FF2B5EF4-FFF2-40B4-BE49-F238E27FC236}">
                <a16:creationId xmlns:a16="http://schemas.microsoft.com/office/drawing/2014/main" id="{6F241F1F-636D-8EB3-F1EF-DEEFD024CD24}"/>
              </a:ext>
            </a:extLst>
          </p:cNvPr>
          <p:cNvSpPr/>
          <p:nvPr/>
        </p:nvSpPr>
        <p:spPr>
          <a:xfrm>
            <a:off x="8453537" y="701599"/>
            <a:ext cx="2593041" cy="369332"/>
          </a:xfrm>
          <a:prstGeom prst="rect">
            <a:avLst/>
          </a:prstGeom>
        </p:spPr>
        <p:txBody>
          <a:bodyPr wrap="square">
            <a:spAutoFit/>
          </a:bodyPr>
          <a:lstStyle/>
          <a:p>
            <a:r>
              <a:rPr lang="en-US" b="1" dirty="0">
                <a:solidFill>
                  <a:srgbClr val="B52217"/>
                </a:solidFill>
              </a:rPr>
              <a:t>Login</a:t>
            </a:r>
            <a:endParaRPr lang="en-IN" b="1" dirty="0">
              <a:solidFill>
                <a:srgbClr val="B52217"/>
              </a:solidFill>
            </a:endParaRPr>
          </a:p>
        </p:txBody>
      </p:sp>
    </p:spTree>
    <p:extLst>
      <p:ext uri="{BB962C8B-B14F-4D97-AF65-F5344CB8AC3E}">
        <p14:creationId xmlns:p14="http://schemas.microsoft.com/office/powerpoint/2010/main" val="39616007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object 3"/>
          <p:cNvSpPr/>
          <p:nvPr/>
        </p:nvSpPr>
        <p:spPr>
          <a:xfrm>
            <a:off x="0" y="435416"/>
            <a:ext cx="211015" cy="450849"/>
          </a:xfrm>
          <a:custGeom>
            <a:avLst/>
            <a:gdLst/>
            <a:ahLst/>
            <a:cxnLst/>
            <a:rect l="l" t="t" r="r" b="b"/>
            <a:pathLst>
              <a:path w="77470" h="177165">
                <a:moveTo>
                  <a:pt x="77076" y="0"/>
                </a:moveTo>
                <a:lnTo>
                  <a:pt x="0" y="0"/>
                </a:lnTo>
                <a:lnTo>
                  <a:pt x="0" y="176936"/>
                </a:lnTo>
                <a:lnTo>
                  <a:pt x="77076" y="176936"/>
                </a:lnTo>
                <a:lnTo>
                  <a:pt x="77076" y="0"/>
                </a:lnTo>
                <a:close/>
              </a:path>
            </a:pathLst>
          </a:custGeom>
          <a:solidFill>
            <a:srgbClr val="D92129"/>
          </a:solidFill>
        </p:spPr>
        <p:txBody>
          <a:bodyPr wrap="square" lIns="0" tIns="0" rIns="0" bIns="0" rtlCol="0"/>
          <a:lstStyle/>
          <a:p>
            <a:endParaRPr/>
          </a:p>
        </p:txBody>
      </p:sp>
      <p:pic>
        <p:nvPicPr>
          <p:cNvPr id="7" name="Picture 6">
            <a:extLst>
              <a:ext uri="{FF2B5EF4-FFF2-40B4-BE49-F238E27FC236}">
                <a16:creationId xmlns:a16="http://schemas.microsoft.com/office/drawing/2014/main" id="{E0DFBCC0-F6F3-0F5B-FBCA-9347D44E7950}"/>
              </a:ext>
            </a:extLst>
          </p:cNvPr>
          <p:cNvPicPr>
            <a:picLocks noChangeAspect="1"/>
          </p:cNvPicPr>
          <p:nvPr/>
        </p:nvPicPr>
        <p:blipFill>
          <a:blip r:embed="rId2"/>
          <a:srcRect/>
          <a:stretch/>
        </p:blipFill>
        <p:spPr>
          <a:xfrm>
            <a:off x="470019" y="1069089"/>
            <a:ext cx="5775459" cy="3395756"/>
          </a:xfrm>
          <a:prstGeom prst="rect">
            <a:avLst/>
          </a:prstGeom>
        </p:spPr>
      </p:pic>
      <p:pic>
        <p:nvPicPr>
          <p:cNvPr id="8" name="Picture 7">
            <a:extLst>
              <a:ext uri="{FF2B5EF4-FFF2-40B4-BE49-F238E27FC236}">
                <a16:creationId xmlns:a16="http://schemas.microsoft.com/office/drawing/2014/main" id="{98C7E5BC-3B31-93AF-EAA3-F8BEF9E1FFBF}"/>
              </a:ext>
            </a:extLst>
          </p:cNvPr>
          <p:cNvPicPr>
            <a:picLocks noChangeAspect="1"/>
          </p:cNvPicPr>
          <p:nvPr/>
        </p:nvPicPr>
        <p:blipFill>
          <a:blip r:embed="rId3"/>
          <a:srcRect/>
          <a:stretch/>
        </p:blipFill>
        <p:spPr>
          <a:xfrm>
            <a:off x="6510620" y="1253636"/>
            <a:ext cx="5493771" cy="3026661"/>
          </a:xfrm>
          <a:prstGeom prst="rect">
            <a:avLst/>
          </a:prstGeom>
        </p:spPr>
      </p:pic>
      <p:sp>
        <p:nvSpPr>
          <p:cNvPr id="10" name="Rectangle 9">
            <a:extLst>
              <a:ext uri="{FF2B5EF4-FFF2-40B4-BE49-F238E27FC236}">
                <a16:creationId xmlns:a16="http://schemas.microsoft.com/office/drawing/2014/main" id="{D263B16E-F6D2-E244-625C-091AD863DAC5}"/>
              </a:ext>
            </a:extLst>
          </p:cNvPr>
          <p:cNvSpPr/>
          <p:nvPr/>
        </p:nvSpPr>
        <p:spPr>
          <a:xfrm>
            <a:off x="1865848" y="516933"/>
            <a:ext cx="1858425" cy="369332"/>
          </a:xfrm>
          <a:prstGeom prst="rect">
            <a:avLst/>
          </a:prstGeom>
        </p:spPr>
        <p:txBody>
          <a:bodyPr wrap="square">
            <a:spAutoFit/>
          </a:bodyPr>
          <a:lstStyle/>
          <a:p>
            <a:r>
              <a:rPr lang="en-US" b="1" dirty="0">
                <a:solidFill>
                  <a:srgbClr val="B52217"/>
                </a:solidFill>
              </a:rPr>
              <a:t>Home Page</a:t>
            </a:r>
            <a:endParaRPr lang="en-IN" b="1" dirty="0">
              <a:solidFill>
                <a:srgbClr val="B52217"/>
              </a:solidFill>
            </a:endParaRPr>
          </a:p>
        </p:txBody>
      </p:sp>
      <p:sp>
        <p:nvSpPr>
          <p:cNvPr id="12" name="Rectangle 11">
            <a:extLst>
              <a:ext uri="{FF2B5EF4-FFF2-40B4-BE49-F238E27FC236}">
                <a16:creationId xmlns:a16="http://schemas.microsoft.com/office/drawing/2014/main" id="{6F241F1F-636D-8EB3-F1EF-DEEFD024CD24}"/>
              </a:ext>
            </a:extLst>
          </p:cNvPr>
          <p:cNvSpPr/>
          <p:nvPr/>
        </p:nvSpPr>
        <p:spPr>
          <a:xfrm>
            <a:off x="7864080" y="476174"/>
            <a:ext cx="2593041" cy="369332"/>
          </a:xfrm>
          <a:prstGeom prst="rect">
            <a:avLst/>
          </a:prstGeom>
        </p:spPr>
        <p:txBody>
          <a:bodyPr wrap="square">
            <a:spAutoFit/>
          </a:bodyPr>
          <a:lstStyle/>
          <a:p>
            <a:r>
              <a:rPr lang="en-US" b="1" dirty="0">
                <a:solidFill>
                  <a:srgbClr val="B52217"/>
                </a:solidFill>
              </a:rPr>
              <a:t>Home Components</a:t>
            </a:r>
            <a:endParaRPr lang="en-IN" b="1" dirty="0">
              <a:solidFill>
                <a:srgbClr val="B52217"/>
              </a:solidFill>
            </a:endParaRPr>
          </a:p>
        </p:txBody>
      </p:sp>
    </p:spTree>
    <p:extLst>
      <p:ext uri="{BB962C8B-B14F-4D97-AF65-F5344CB8AC3E}">
        <p14:creationId xmlns:p14="http://schemas.microsoft.com/office/powerpoint/2010/main" val="35922933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object 3"/>
          <p:cNvSpPr/>
          <p:nvPr/>
        </p:nvSpPr>
        <p:spPr>
          <a:xfrm>
            <a:off x="0" y="435416"/>
            <a:ext cx="211015" cy="450849"/>
          </a:xfrm>
          <a:custGeom>
            <a:avLst/>
            <a:gdLst/>
            <a:ahLst/>
            <a:cxnLst/>
            <a:rect l="l" t="t" r="r" b="b"/>
            <a:pathLst>
              <a:path w="77470" h="177165">
                <a:moveTo>
                  <a:pt x="77076" y="0"/>
                </a:moveTo>
                <a:lnTo>
                  <a:pt x="0" y="0"/>
                </a:lnTo>
                <a:lnTo>
                  <a:pt x="0" y="176936"/>
                </a:lnTo>
                <a:lnTo>
                  <a:pt x="77076" y="176936"/>
                </a:lnTo>
                <a:lnTo>
                  <a:pt x="77076" y="0"/>
                </a:lnTo>
                <a:close/>
              </a:path>
            </a:pathLst>
          </a:custGeom>
          <a:solidFill>
            <a:srgbClr val="D92129"/>
          </a:solidFill>
        </p:spPr>
        <p:txBody>
          <a:bodyPr wrap="square" lIns="0" tIns="0" rIns="0" bIns="0" rtlCol="0"/>
          <a:lstStyle/>
          <a:p>
            <a:endParaRPr/>
          </a:p>
        </p:txBody>
      </p:sp>
      <p:pic>
        <p:nvPicPr>
          <p:cNvPr id="7" name="Picture 6">
            <a:extLst>
              <a:ext uri="{FF2B5EF4-FFF2-40B4-BE49-F238E27FC236}">
                <a16:creationId xmlns:a16="http://schemas.microsoft.com/office/drawing/2014/main" id="{E0DFBCC0-F6F3-0F5B-FBCA-9347D44E7950}"/>
              </a:ext>
            </a:extLst>
          </p:cNvPr>
          <p:cNvPicPr>
            <a:picLocks noChangeAspect="1"/>
          </p:cNvPicPr>
          <p:nvPr/>
        </p:nvPicPr>
        <p:blipFill>
          <a:blip r:embed="rId2"/>
          <a:srcRect/>
          <a:stretch/>
        </p:blipFill>
        <p:spPr>
          <a:xfrm>
            <a:off x="2696488" y="1715456"/>
            <a:ext cx="7923887" cy="4453517"/>
          </a:xfrm>
          <a:prstGeom prst="rect">
            <a:avLst/>
          </a:prstGeom>
        </p:spPr>
      </p:pic>
      <p:sp>
        <p:nvSpPr>
          <p:cNvPr id="10" name="Rectangle 9">
            <a:extLst>
              <a:ext uri="{FF2B5EF4-FFF2-40B4-BE49-F238E27FC236}">
                <a16:creationId xmlns:a16="http://schemas.microsoft.com/office/drawing/2014/main" id="{D263B16E-F6D2-E244-625C-091AD863DAC5}"/>
              </a:ext>
            </a:extLst>
          </p:cNvPr>
          <p:cNvSpPr/>
          <p:nvPr/>
        </p:nvSpPr>
        <p:spPr>
          <a:xfrm>
            <a:off x="5521067" y="1060096"/>
            <a:ext cx="2801402" cy="369332"/>
          </a:xfrm>
          <a:prstGeom prst="rect">
            <a:avLst/>
          </a:prstGeom>
        </p:spPr>
        <p:txBody>
          <a:bodyPr wrap="square">
            <a:spAutoFit/>
          </a:bodyPr>
          <a:lstStyle/>
          <a:p>
            <a:r>
              <a:rPr lang="en-US" b="1" dirty="0">
                <a:solidFill>
                  <a:srgbClr val="B52217"/>
                </a:solidFill>
              </a:rPr>
              <a:t>Navbar And Footer</a:t>
            </a:r>
            <a:endParaRPr lang="en-IN" b="1" dirty="0">
              <a:solidFill>
                <a:srgbClr val="B52217"/>
              </a:solidFill>
            </a:endParaRPr>
          </a:p>
        </p:txBody>
      </p:sp>
    </p:spTree>
    <p:extLst>
      <p:ext uri="{BB962C8B-B14F-4D97-AF65-F5344CB8AC3E}">
        <p14:creationId xmlns:p14="http://schemas.microsoft.com/office/powerpoint/2010/main" val="32934682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object 3"/>
          <p:cNvSpPr/>
          <p:nvPr/>
        </p:nvSpPr>
        <p:spPr>
          <a:xfrm>
            <a:off x="0" y="435416"/>
            <a:ext cx="211015" cy="450849"/>
          </a:xfrm>
          <a:custGeom>
            <a:avLst/>
            <a:gdLst/>
            <a:ahLst/>
            <a:cxnLst/>
            <a:rect l="l" t="t" r="r" b="b"/>
            <a:pathLst>
              <a:path w="77470" h="177165">
                <a:moveTo>
                  <a:pt x="77076" y="0"/>
                </a:moveTo>
                <a:lnTo>
                  <a:pt x="0" y="0"/>
                </a:lnTo>
                <a:lnTo>
                  <a:pt x="0" y="176936"/>
                </a:lnTo>
                <a:lnTo>
                  <a:pt x="77076" y="176936"/>
                </a:lnTo>
                <a:lnTo>
                  <a:pt x="77076" y="0"/>
                </a:lnTo>
                <a:close/>
              </a:path>
            </a:pathLst>
          </a:custGeom>
          <a:solidFill>
            <a:srgbClr val="D92129"/>
          </a:solidFill>
        </p:spPr>
        <p:txBody>
          <a:bodyPr wrap="square" lIns="0" tIns="0" rIns="0" bIns="0" rtlCol="0"/>
          <a:lstStyle/>
          <a:p>
            <a:endParaRPr/>
          </a:p>
        </p:txBody>
      </p:sp>
      <p:sp>
        <p:nvSpPr>
          <p:cNvPr id="10" name="Rectangle 9">
            <a:extLst>
              <a:ext uri="{FF2B5EF4-FFF2-40B4-BE49-F238E27FC236}">
                <a16:creationId xmlns:a16="http://schemas.microsoft.com/office/drawing/2014/main" id="{D263B16E-F6D2-E244-625C-091AD863DAC5}"/>
              </a:ext>
            </a:extLst>
          </p:cNvPr>
          <p:cNvSpPr/>
          <p:nvPr/>
        </p:nvSpPr>
        <p:spPr>
          <a:xfrm>
            <a:off x="3866098" y="66084"/>
            <a:ext cx="2801402" cy="369332"/>
          </a:xfrm>
          <a:prstGeom prst="rect">
            <a:avLst/>
          </a:prstGeom>
        </p:spPr>
        <p:txBody>
          <a:bodyPr wrap="square">
            <a:spAutoFit/>
          </a:bodyPr>
          <a:lstStyle/>
          <a:p>
            <a:r>
              <a:rPr lang="en-US" b="1" dirty="0">
                <a:solidFill>
                  <a:srgbClr val="B52217"/>
                </a:solidFill>
              </a:rPr>
              <a:t>Movie Listing Page</a:t>
            </a:r>
            <a:endParaRPr lang="en-IN" b="1" dirty="0">
              <a:solidFill>
                <a:srgbClr val="B52217"/>
              </a:solidFill>
            </a:endParaRPr>
          </a:p>
        </p:txBody>
      </p:sp>
      <p:pic>
        <p:nvPicPr>
          <p:cNvPr id="3" name="Picture 2">
            <a:extLst>
              <a:ext uri="{FF2B5EF4-FFF2-40B4-BE49-F238E27FC236}">
                <a16:creationId xmlns:a16="http://schemas.microsoft.com/office/drawing/2014/main" id="{7114CC14-3EBC-3D81-D698-5748A3DC68C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59517" y="435416"/>
            <a:ext cx="5926907" cy="3100650"/>
          </a:xfrm>
          <a:prstGeom prst="rect">
            <a:avLst/>
          </a:prstGeom>
        </p:spPr>
      </p:pic>
      <p:pic>
        <p:nvPicPr>
          <p:cNvPr id="4" name="Picture 3">
            <a:extLst>
              <a:ext uri="{FF2B5EF4-FFF2-40B4-BE49-F238E27FC236}">
                <a16:creationId xmlns:a16="http://schemas.microsoft.com/office/drawing/2014/main" id="{A2586FEC-511A-F702-E4CD-A7D59E55210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16327" y="3502186"/>
            <a:ext cx="5833977" cy="3100650"/>
          </a:xfrm>
          <a:prstGeom prst="rect">
            <a:avLst/>
          </a:prstGeom>
        </p:spPr>
      </p:pic>
    </p:spTree>
    <p:extLst>
      <p:ext uri="{BB962C8B-B14F-4D97-AF65-F5344CB8AC3E}">
        <p14:creationId xmlns:p14="http://schemas.microsoft.com/office/powerpoint/2010/main" val="27701664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object 3"/>
          <p:cNvSpPr/>
          <p:nvPr/>
        </p:nvSpPr>
        <p:spPr>
          <a:xfrm>
            <a:off x="0" y="435416"/>
            <a:ext cx="211015" cy="450849"/>
          </a:xfrm>
          <a:custGeom>
            <a:avLst/>
            <a:gdLst/>
            <a:ahLst/>
            <a:cxnLst/>
            <a:rect l="l" t="t" r="r" b="b"/>
            <a:pathLst>
              <a:path w="77470" h="177165">
                <a:moveTo>
                  <a:pt x="77076" y="0"/>
                </a:moveTo>
                <a:lnTo>
                  <a:pt x="0" y="0"/>
                </a:lnTo>
                <a:lnTo>
                  <a:pt x="0" y="176936"/>
                </a:lnTo>
                <a:lnTo>
                  <a:pt x="77076" y="176936"/>
                </a:lnTo>
                <a:lnTo>
                  <a:pt x="77076" y="0"/>
                </a:lnTo>
                <a:close/>
              </a:path>
            </a:pathLst>
          </a:custGeom>
          <a:solidFill>
            <a:srgbClr val="D92129"/>
          </a:solidFill>
        </p:spPr>
        <p:txBody>
          <a:bodyPr wrap="square" lIns="0" tIns="0" rIns="0" bIns="0" rtlCol="0"/>
          <a:lstStyle/>
          <a:p>
            <a:endParaRPr/>
          </a:p>
        </p:txBody>
      </p:sp>
      <p:sp>
        <p:nvSpPr>
          <p:cNvPr id="10" name="Rectangle 9">
            <a:extLst>
              <a:ext uri="{FF2B5EF4-FFF2-40B4-BE49-F238E27FC236}">
                <a16:creationId xmlns:a16="http://schemas.microsoft.com/office/drawing/2014/main" id="{D263B16E-F6D2-E244-625C-091AD863DAC5}"/>
              </a:ext>
            </a:extLst>
          </p:cNvPr>
          <p:cNvSpPr/>
          <p:nvPr/>
        </p:nvSpPr>
        <p:spPr>
          <a:xfrm>
            <a:off x="8290988" y="291508"/>
            <a:ext cx="2801402" cy="369332"/>
          </a:xfrm>
          <a:prstGeom prst="rect">
            <a:avLst/>
          </a:prstGeom>
        </p:spPr>
        <p:txBody>
          <a:bodyPr wrap="square">
            <a:spAutoFit/>
          </a:bodyPr>
          <a:lstStyle/>
          <a:p>
            <a:r>
              <a:rPr lang="en-US" b="1" dirty="0">
                <a:solidFill>
                  <a:srgbClr val="B52217"/>
                </a:solidFill>
              </a:rPr>
              <a:t>Contact US Page</a:t>
            </a:r>
            <a:endParaRPr lang="en-IN" b="1" dirty="0">
              <a:solidFill>
                <a:srgbClr val="B52217"/>
              </a:solidFill>
            </a:endParaRPr>
          </a:p>
        </p:txBody>
      </p:sp>
      <p:pic>
        <p:nvPicPr>
          <p:cNvPr id="3" name="Picture 2">
            <a:extLst>
              <a:ext uri="{FF2B5EF4-FFF2-40B4-BE49-F238E27FC236}">
                <a16:creationId xmlns:a16="http://schemas.microsoft.com/office/drawing/2014/main" id="{7114CC14-3EBC-3D81-D698-5748A3DC68CB}"/>
              </a:ext>
            </a:extLst>
          </p:cNvPr>
          <p:cNvPicPr>
            <a:picLocks noChangeAspect="1"/>
          </p:cNvPicPr>
          <p:nvPr/>
        </p:nvPicPr>
        <p:blipFill>
          <a:blip r:embed="rId2"/>
          <a:srcRect/>
          <a:stretch/>
        </p:blipFill>
        <p:spPr>
          <a:xfrm>
            <a:off x="105507" y="886265"/>
            <a:ext cx="6091176" cy="3338867"/>
          </a:xfrm>
          <a:prstGeom prst="rect">
            <a:avLst/>
          </a:prstGeom>
        </p:spPr>
      </p:pic>
      <p:pic>
        <p:nvPicPr>
          <p:cNvPr id="5" name="Picture 4">
            <a:extLst>
              <a:ext uri="{FF2B5EF4-FFF2-40B4-BE49-F238E27FC236}">
                <a16:creationId xmlns:a16="http://schemas.microsoft.com/office/drawing/2014/main" id="{C9BED2D2-90DC-8EBB-0622-BE4AA43A53A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24054" y="1012031"/>
            <a:ext cx="5618598" cy="3213101"/>
          </a:xfrm>
          <a:prstGeom prst="rect">
            <a:avLst/>
          </a:prstGeom>
        </p:spPr>
      </p:pic>
      <p:sp>
        <p:nvSpPr>
          <p:cNvPr id="7" name="Rectangle 6">
            <a:extLst>
              <a:ext uri="{FF2B5EF4-FFF2-40B4-BE49-F238E27FC236}">
                <a16:creationId xmlns:a16="http://schemas.microsoft.com/office/drawing/2014/main" id="{1CECEE41-D475-FC32-E247-801981ED189B}"/>
              </a:ext>
            </a:extLst>
          </p:cNvPr>
          <p:cNvSpPr/>
          <p:nvPr/>
        </p:nvSpPr>
        <p:spPr>
          <a:xfrm>
            <a:off x="1099610" y="250750"/>
            <a:ext cx="2649002" cy="369332"/>
          </a:xfrm>
          <a:prstGeom prst="rect">
            <a:avLst/>
          </a:prstGeom>
        </p:spPr>
        <p:txBody>
          <a:bodyPr wrap="square">
            <a:spAutoFit/>
          </a:bodyPr>
          <a:lstStyle/>
          <a:p>
            <a:r>
              <a:rPr lang="en-US" b="1" dirty="0">
                <a:solidFill>
                  <a:srgbClr val="B52217"/>
                </a:solidFill>
              </a:rPr>
              <a:t>SeatBooking Page</a:t>
            </a:r>
            <a:endParaRPr lang="en-IN" b="1" dirty="0">
              <a:solidFill>
                <a:srgbClr val="B52217"/>
              </a:solidFill>
            </a:endParaRPr>
          </a:p>
        </p:txBody>
      </p:sp>
    </p:spTree>
    <p:extLst>
      <p:ext uri="{BB962C8B-B14F-4D97-AF65-F5344CB8AC3E}">
        <p14:creationId xmlns:p14="http://schemas.microsoft.com/office/powerpoint/2010/main" val="2244946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object 3"/>
          <p:cNvSpPr/>
          <p:nvPr/>
        </p:nvSpPr>
        <p:spPr>
          <a:xfrm>
            <a:off x="0" y="435416"/>
            <a:ext cx="211015" cy="450849"/>
          </a:xfrm>
          <a:custGeom>
            <a:avLst/>
            <a:gdLst/>
            <a:ahLst/>
            <a:cxnLst/>
            <a:rect l="l" t="t" r="r" b="b"/>
            <a:pathLst>
              <a:path w="77470" h="177165">
                <a:moveTo>
                  <a:pt x="77076" y="0"/>
                </a:moveTo>
                <a:lnTo>
                  <a:pt x="0" y="0"/>
                </a:lnTo>
                <a:lnTo>
                  <a:pt x="0" y="176936"/>
                </a:lnTo>
                <a:lnTo>
                  <a:pt x="77076" y="176936"/>
                </a:lnTo>
                <a:lnTo>
                  <a:pt x="77076" y="0"/>
                </a:lnTo>
                <a:close/>
              </a:path>
            </a:pathLst>
          </a:custGeom>
          <a:solidFill>
            <a:srgbClr val="D92129"/>
          </a:solidFill>
        </p:spPr>
        <p:txBody>
          <a:bodyPr wrap="square" lIns="0" tIns="0" rIns="0" bIns="0" rtlCol="0"/>
          <a:lstStyle/>
          <a:p>
            <a:endParaRPr/>
          </a:p>
        </p:txBody>
      </p:sp>
      <p:sp>
        <p:nvSpPr>
          <p:cNvPr id="3" name="Rectangle 2"/>
          <p:cNvSpPr/>
          <p:nvPr/>
        </p:nvSpPr>
        <p:spPr>
          <a:xfrm>
            <a:off x="968932" y="476174"/>
            <a:ext cx="1728037" cy="369332"/>
          </a:xfrm>
          <a:prstGeom prst="rect">
            <a:avLst/>
          </a:prstGeom>
        </p:spPr>
        <p:txBody>
          <a:bodyPr wrap="none">
            <a:spAutoFit/>
          </a:bodyPr>
          <a:lstStyle/>
          <a:p>
            <a:r>
              <a:rPr lang="en-US" b="1" spc="-15" dirty="0">
                <a:solidFill>
                  <a:srgbClr val="D82128"/>
                </a:solidFill>
                <a:latin typeface="Roboto"/>
              </a:rPr>
              <a:t>MODULE LIST</a:t>
            </a:r>
            <a:endParaRPr lang="en-IN" dirty="0"/>
          </a:p>
        </p:txBody>
      </p:sp>
      <p:sp>
        <p:nvSpPr>
          <p:cNvPr id="6" name="Content Placeholder 5"/>
          <p:cNvSpPr>
            <a:spLocks noGrp="1"/>
          </p:cNvSpPr>
          <p:nvPr>
            <p:ph idx="1"/>
          </p:nvPr>
        </p:nvSpPr>
        <p:spPr>
          <a:xfrm>
            <a:off x="968932" y="1068388"/>
            <a:ext cx="10555197" cy="4592824"/>
          </a:xfrm>
        </p:spPr>
        <p:txBody>
          <a:bodyPr>
            <a:normAutofit/>
          </a:bodyPr>
          <a:lstStyle/>
          <a:p>
            <a:pPr marL="0" indent="0">
              <a:buNone/>
            </a:pPr>
            <a:r>
              <a:rPr lang="en-US" sz="1600" b="1" dirty="0">
                <a:latin typeface="RobotoRegular"/>
              </a:rPr>
              <a:t>ADMIN</a:t>
            </a:r>
          </a:p>
          <a:p>
            <a:pPr lvl="0">
              <a:lnSpc>
                <a:spcPct val="150000"/>
              </a:lnSpc>
              <a:buFont typeface="Wingdings" panose="05000000000000000000" pitchFamily="2" charset="2"/>
              <a:buChar char="Ø"/>
            </a:pPr>
            <a:r>
              <a:rPr lang="en-US" sz="1600" dirty="0">
                <a:latin typeface="Roboto regular"/>
              </a:rPr>
              <a:t>Register</a:t>
            </a:r>
            <a:endParaRPr lang="en-IN" sz="1600" dirty="0">
              <a:latin typeface="Roboto regular"/>
            </a:endParaRPr>
          </a:p>
          <a:p>
            <a:pPr lvl="0">
              <a:lnSpc>
                <a:spcPct val="150000"/>
              </a:lnSpc>
              <a:buFont typeface="Wingdings" panose="05000000000000000000" pitchFamily="2" charset="2"/>
              <a:buChar char="Ø"/>
            </a:pPr>
            <a:r>
              <a:rPr lang="en-US" sz="1600" dirty="0">
                <a:latin typeface="Roboto regular"/>
              </a:rPr>
              <a:t>Login</a:t>
            </a:r>
            <a:endParaRPr lang="en-IN" sz="1600" dirty="0">
              <a:latin typeface="Roboto regular"/>
            </a:endParaRPr>
          </a:p>
          <a:p>
            <a:pPr lvl="0">
              <a:lnSpc>
                <a:spcPct val="150000"/>
              </a:lnSpc>
              <a:buFont typeface="Wingdings" panose="05000000000000000000" pitchFamily="2" charset="2"/>
              <a:buChar char="Ø"/>
            </a:pPr>
            <a:r>
              <a:rPr lang="en-US" sz="1600" dirty="0">
                <a:latin typeface="Roboto regular"/>
              </a:rPr>
              <a:t>View Users Details</a:t>
            </a:r>
            <a:endParaRPr lang="en-IN" sz="1600" dirty="0">
              <a:latin typeface="Roboto regular"/>
            </a:endParaRPr>
          </a:p>
          <a:p>
            <a:pPr lvl="0">
              <a:lnSpc>
                <a:spcPct val="150000"/>
              </a:lnSpc>
              <a:buFont typeface="Wingdings" panose="05000000000000000000" pitchFamily="2" charset="2"/>
              <a:buChar char="Ø"/>
            </a:pPr>
            <a:r>
              <a:rPr lang="en-US" sz="1600" dirty="0">
                <a:latin typeface="Roboto regular"/>
              </a:rPr>
              <a:t>Update Users Details</a:t>
            </a:r>
          </a:p>
          <a:p>
            <a:pPr lvl="0">
              <a:lnSpc>
                <a:spcPct val="150000"/>
              </a:lnSpc>
              <a:buFont typeface="Wingdings" panose="05000000000000000000" pitchFamily="2" charset="2"/>
              <a:buChar char="Ø"/>
            </a:pPr>
            <a:r>
              <a:rPr lang="en-US" sz="1600" dirty="0">
                <a:latin typeface="Roboto regular"/>
              </a:rPr>
              <a:t>Delete Users Details</a:t>
            </a:r>
            <a:endParaRPr lang="en-IN" sz="1600" dirty="0">
              <a:latin typeface="Roboto regular"/>
            </a:endParaRPr>
          </a:p>
          <a:p>
            <a:pPr lvl="0">
              <a:lnSpc>
                <a:spcPct val="150000"/>
              </a:lnSpc>
              <a:buFont typeface="Wingdings" panose="05000000000000000000" pitchFamily="2" charset="2"/>
              <a:buChar char="Ø"/>
            </a:pPr>
            <a:r>
              <a:rPr lang="en-US" sz="1600" dirty="0">
                <a:latin typeface="Roboto regular"/>
              </a:rPr>
              <a:t>View Bookings</a:t>
            </a:r>
          </a:p>
          <a:p>
            <a:pPr lvl="0">
              <a:lnSpc>
                <a:spcPct val="150000"/>
              </a:lnSpc>
              <a:buFont typeface="Wingdings" panose="05000000000000000000" pitchFamily="2" charset="2"/>
              <a:buChar char="Ø"/>
            </a:pPr>
            <a:r>
              <a:rPr lang="en-US" sz="1600" dirty="0">
                <a:latin typeface="Roboto regular"/>
              </a:rPr>
              <a:t>View Feedback</a:t>
            </a:r>
          </a:p>
          <a:p>
            <a:pPr lvl="0">
              <a:lnSpc>
                <a:spcPct val="150000"/>
              </a:lnSpc>
              <a:buFont typeface="Wingdings" panose="05000000000000000000" pitchFamily="2" charset="2"/>
              <a:buChar char="Ø"/>
            </a:pPr>
            <a:endParaRPr lang="en-IN" sz="1600" dirty="0">
              <a:latin typeface="Roboto regular"/>
            </a:endParaRPr>
          </a:p>
          <a:p>
            <a:pPr lvl="0"/>
            <a:endParaRPr lang="en-IN" sz="1600" dirty="0"/>
          </a:p>
        </p:txBody>
      </p:sp>
    </p:spTree>
    <p:extLst>
      <p:ext uri="{BB962C8B-B14F-4D97-AF65-F5344CB8AC3E}">
        <p14:creationId xmlns:p14="http://schemas.microsoft.com/office/powerpoint/2010/main" val="37557964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object 3"/>
          <p:cNvSpPr/>
          <p:nvPr/>
        </p:nvSpPr>
        <p:spPr>
          <a:xfrm>
            <a:off x="0" y="435416"/>
            <a:ext cx="211015" cy="450849"/>
          </a:xfrm>
          <a:custGeom>
            <a:avLst/>
            <a:gdLst/>
            <a:ahLst/>
            <a:cxnLst/>
            <a:rect l="l" t="t" r="r" b="b"/>
            <a:pathLst>
              <a:path w="77470" h="177165">
                <a:moveTo>
                  <a:pt x="77076" y="0"/>
                </a:moveTo>
                <a:lnTo>
                  <a:pt x="0" y="0"/>
                </a:lnTo>
                <a:lnTo>
                  <a:pt x="0" y="176936"/>
                </a:lnTo>
                <a:lnTo>
                  <a:pt x="77076" y="176936"/>
                </a:lnTo>
                <a:lnTo>
                  <a:pt x="77076" y="0"/>
                </a:lnTo>
                <a:close/>
              </a:path>
            </a:pathLst>
          </a:custGeom>
          <a:solidFill>
            <a:srgbClr val="D92129"/>
          </a:solidFill>
        </p:spPr>
        <p:txBody>
          <a:bodyPr wrap="square" lIns="0" tIns="0" rIns="0" bIns="0" rtlCol="0"/>
          <a:lstStyle/>
          <a:p>
            <a:endParaRPr/>
          </a:p>
        </p:txBody>
      </p:sp>
      <p:sp>
        <p:nvSpPr>
          <p:cNvPr id="3" name="Rectangle 2"/>
          <p:cNvSpPr/>
          <p:nvPr/>
        </p:nvSpPr>
        <p:spPr>
          <a:xfrm>
            <a:off x="891801" y="476174"/>
            <a:ext cx="1728037" cy="369332"/>
          </a:xfrm>
          <a:prstGeom prst="rect">
            <a:avLst/>
          </a:prstGeom>
        </p:spPr>
        <p:txBody>
          <a:bodyPr wrap="none">
            <a:spAutoFit/>
          </a:bodyPr>
          <a:lstStyle/>
          <a:p>
            <a:r>
              <a:rPr lang="en-US" b="1" spc="-15" dirty="0">
                <a:solidFill>
                  <a:srgbClr val="D82128"/>
                </a:solidFill>
                <a:latin typeface="Roboto"/>
              </a:rPr>
              <a:t>MODULE LIST</a:t>
            </a:r>
            <a:endParaRPr lang="en-IN" dirty="0"/>
          </a:p>
        </p:txBody>
      </p:sp>
      <p:sp>
        <p:nvSpPr>
          <p:cNvPr id="6" name="Content Placeholder 5"/>
          <p:cNvSpPr>
            <a:spLocks noGrp="1"/>
          </p:cNvSpPr>
          <p:nvPr>
            <p:ph idx="1"/>
          </p:nvPr>
        </p:nvSpPr>
        <p:spPr>
          <a:xfrm>
            <a:off x="891801" y="996949"/>
            <a:ext cx="10515600" cy="4860925"/>
          </a:xfrm>
        </p:spPr>
        <p:txBody>
          <a:bodyPr>
            <a:normAutofit/>
          </a:bodyPr>
          <a:lstStyle/>
          <a:p>
            <a:pPr marL="0" indent="0">
              <a:buNone/>
            </a:pPr>
            <a:r>
              <a:rPr lang="en-US" sz="1600" b="1" dirty="0">
                <a:latin typeface="RobotoRegular"/>
              </a:rPr>
              <a:t>USER</a:t>
            </a:r>
          </a:p>
          <a:p>
            <a:pPr lvl="0">
              <a:lnSpc>
                <a:spcPct val="150000"/>
              </a:lnSpc>
              <a:buFont typeface="Wingdings" panose="05000000000000000000" pitchFamily="2" charset="2"/>
              <a:buChar char="Ø"/>
            </a:pPr>
            <a:r>
              <a:rPr lang="en-US" sz="1600" dirty="0">
                <a:latin typeface="Roboto regular"/>
              </a:rPr>
              <a:t>Register</a:t>
            </a:r>
            <a:endParaRPr lang="en-IN" sz="1600" dirty="0">
              <a:latin typeface="Roboto regular"/>
            </a:endParaRPr>
          </a:p>
          <a:p>
            <a:pPr lvl="0">
              <a:lnSpc>
                <a:spcPct val="150000"/>
              </a:lnSpc>
              <a:buFont typeface="Wingdings" panose="05000000000000000000" pitchFamily="2" charset="2"/>
              <a:buChar char="Ø"/>
            </a:pPr>
            <a:r>
              <a:rPr lang="en-US" sz="1600" dirty="0">
                <a:latin typeface="Roboto regular"/>
              </a:rPr>
              <a:t>Login</a:t>
            </a:r>
            <a:endParaRPr lang="en-IN" sz="1600" dirty="0">
              <a:latin typeface="Roboto regular"/>
            </a:endParaRPr>
          </a:p>
          <a:p>
            <a:pPr lvl="0">
              <a:lnSpc>
                <a:spcPct val="150000"/>
              </a:lnSpc>
              <a:buFont typeface="Wingdings" panose="05000000000000000000" pitchFamily="2" charset="2"/>
              <a:buChar char="Ø"/>
            </a:pPr>
            <a:r>
              <a:rPr lang="en-US" sz="1600" dirty="0">
                <a:latin typeface="Roboto regular"/>
              </a:rPr>
              <a:t>Payment System</a:t>
            </a:r>
            <a:endParaRPr lang="en-IN" sz="1600" dirty="0">
              <a:latin typeface="Roboto regular"/>
            </a:endParaRPr>
          </a:p>
          <a:p>
            <a:pPr lvl="0">
              <a:lnSpc>
                <a:spcPct val="150000"/>
              </a:lnSpc>
              <a:buFont typeface="Wingdings" panose="05000000000000000000" pitchFamily="2" charset="2"/>
              <a:buChar char="Ø"/>
            </a:pPr>
            <a:r>
              <a:rPr lang="en-US" sz="1600" dirty="0">
                <a:latin typeface="Roboto regular"/>
              </a:rPr>
              <a:t>View Movies Listing</a:t>
            </a:r>
            <a:endParaRPr lang="en-IN" sz="1600" dirty="0">
              <a:latin typeface="Roboto regular"/>
            </a:endParaRPr>
          </a:p>
          <a:p>
            <a:pPr lvl="0">
              <a:lnSpc>
                <a:spcPct val="150000"/>
              </a:lnSpc>
              <a:buFont typeface="Wingdings" panose="05000000000000000000" pitchFamily="2" charset="2"/>
              <a:buChar char="Ø"/>
            </a:pPr>
            <a:r>
              <a:rPr lang="en-US" sz="1600" dirty="0">
                <a:latin typeface="Roboto regular"/>
              </a:rPr>
              <a:t>Book Movies</a:t>
            </a:r>
            <a:endParaRPr lang="en-IN" sz="1600" dirty="0">
              <a:latin typeface="Roboto regular"/>
            </a:endParaRPr>
          </a:p>
          <a:p>
            <a:pPr lvl="0">
              <a:lnSpc>
                <a:spcPct val="150000"/>
              </a:lnSpc>
              <a:buFont typeface="Wingdings" panose="05000000000000000000" pitchFamily="2" charset="2"/>
              <a:buChar char="Ø"/>
            </a:pPr>
            <a:r>
              <a:rPr lang="en-US" sz="1600" dirty="0">
                <a:latin typeface="Roboto regular"/>
              </a:rPr>
              <a:t>Feedback</a:t>
            </a:r>
            <a:endParaRPr lang="en-IN" sz="1600" dirty="0">
              <a:latin typeface="Roboto regular"/>
            </a:endParaRPr>
          </a:p>
          <a:p>
            <a:pPr marL="0" indent="0">
              <a:buNone/>
            </a:pPr>
            <a:endParaRPr lang="en-US" dirty="0"/>
          </a:p>
          <a:p>
            <a:pPr marL="0" indent="0">
              <a:buNone/>
            </a:pPr>
            <a:endParaRPr lang="en-US" dirty="0"/>
          </a:p>
          <a:p>
            <a:pPr marL="0" indent="0">
              <a:buNone/>
            </a:pPr>
            <a:endParaRPr lang="en-US" dirty="0"/>
          </a:p>
        </p:txBody>
      </p:sp>
    </p:spTree>
    <p:extLst>
      <p:ext uri="{BB962C8B-B14F-4D97-AF65-F5344CB8AC3E}">
        <p14:creationId xmlns:p14="http://schemas.microsoft.com/office/powerpoint/2010/main" val="30040876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object 3"/>
          <p:cNvSpPr/>
          <p:nvPr/>
        </p:nvSpPr>
        <p:spPr>
          <a:xfrm>
            <a:off x="0" y="435416"/>
            <a:ext cx="211015" cy="450849"/>
          </a:xfrm>
          <a:custGeom>
            <a:avLst/>
            <a:gdLst/>
            <a:ahLst/>
            <a:cxnLst/>
            <a:rect l="l" t="t" r="r" b="b"/>
            <a:pathLst>
              <a:path w="77470" h="177165">
                <a:moveTo>
                  <a:pt x="77076" y="0"/>
                </a:moveTo>
                <a:lnTo>
                  <a:pt x="0" y="0"/>
                </a:lnTo>
                <a:lnTo>
                  <a:pt x="0" y="176936"/>
                </a:lnTo>
                <a:lnTo>
                  <a:pt x="77076" y="176936"/>
                </a:lnTo>
                <a:lnTo>
                  <a:pt x="77076" y="0"/>
                </a:lnTo>
                <a:close/>
              </a:path>
            </a:pathLst>
          </a:custGeom>
          <a:solidFill>
            <a:srgbClr val="D92129"/>
          </a:solidFill>
        </p:spPr>
        <p:txBody>
          <a:bodyPr wrap="square" lIns="0" tIns="0" rIns="0" bIns="0" rtlCol="0"/>
          <a:lstStyle/>
          <a:p>
            <a:endParaRPr/>
          </a:p>
        </p:txBody>
      </p:sp>
      <p:sp>
        <p:nvSpPr>
          <p:cNvPr id="3" name="Rectangle 2"/>
          <p:cNvSpPr/>
          <p:nvPr/>
        </p:nvSpPr>
        <p:spPr>
          <a:xfrm>
            <a:off x="891801" y="476174"/>
            <a:ext cx="1426031" cy="369332"/>
          </a:xfrm>
          <a:prstGeom prst="rect">
            <a:avLst/>
          </a:prstGeom>
        </p:spPr>
        <p:txBody>
          <a:bodyPr wrap="none">
            <a:spAutoFit/>
          </a:bodyPr>
          <a:lstStyle/>
          <a:p>
            <a:r>
              <a:rPr lang="en-US" b="1" spc="-15" dirty="0">
                <a:solidFill>
                  <a:srgbClr val="D82128"/>
                </a:solidFill>
                <a:latin typeface="Roboto"/>
              </a:rPr>
              <a:t>DIAGRAMS</a:t>
            </a:r>
            <a:endParaRPr lang="en-IN" dirty="0"/>
          </a:p>
        </p:txBody>
      </p:sp>
      <p:sp>
        <p:nvSpPr>
          <p:cNvPr id="5" name="Content Placeholder 4"/>
          <p:cNvSpPr>
            <a:spLocks noGrp="1"/>
          </p:cNvSpPr>
          <p:nvPr>
            <p:ph idx="1"/>
          </p:nvPr>
        </p:nvSpPr>
        <p:spPr>
          <a:xfrm>
            <a:off x="891801" y="886265"/>
            <a:ext cx="10515600" cy="4351338"/>
          </a:xfrm>
        </p:spPr>
        <p:txBody>
          <a:bodyPr>
            <a:normAutofit/>
          </a:bodyPr>
          <a:lstStyle/>
          <a:p>
            <a:pPr marL="0" indent="0">
              <a:buNone/>
            </a:pPr>
            <a:r>
              <a:rPr lang="en-US" sz="2000" b="1" spc="-15" dirty="0">
                <a:solidFill>
                  <a:srgbClr val="D82128"/>
                </a:solidFill>
                <a:latin typeface="Roboto"/>
              </a:rPr>
              <a:t>ARCHITECTURE DIAGRAMS</a:t>
            </a:r>
          </a:p>
          <a:p>
            <a:pPr marL="0" indent="0">
              <a:buNone/>
            </a:pPr>
            <a:endParaRPr lang="en-IN" sz="2000" dirty="0"/>
          </a:p>
        </p:txBody>
      </p:sp>
      <p:pic>
        <p:nvPicPr>
          <p:cNvPr id="8" name="Picture 7"/>
          <p:cNvPicPr/>
          <p:nvPr/>
        </p:nvPicPr>
        <p:blipFill>
          <a:blip r:embed="rId2"/>
          <a:srcRect/>
          <a:stretch/>
        </p:blipFill>
        <p:spPr bwMode="auto">
          <a:xfrm>
            <a:off x="2462711" y="1339206"/>
            <a:ext cx="8537949" cy="5090245"/>
          </a:xfrm>
          <a:prstGeom prst="rect">
            <a:avLst/>
          </a:prstGeom>
          <a:noFill/>
          <a:ln>
            <a:noFill/>
          </a:ln>
          <a:effectLst/>
        </p:spPr>
      </p:pic>
    </p:spTree>
    <p:extLst>
      <p:ext uri="{BB962C8B-B14F-4D97-AF65-F5344CB8AC3E}">
        <p14:creationId xmlns:p14="http://schemas.microsoft.com/office/powerpoint/2010/main" val="33210072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3"/>
          <p:cNvSpPr/>
          <p:nvPr/>
        </p:nvSpPr>
        <p:spPr>
          <a:xfrm>
            <a:off x="705170" y="475376"/>
            <a:ext cx="2590453" cy="369332"/>
          </a:xfrm>
          <a:prstGeom prst="rect">
            <a:avLst/>
          </a:prstGeom>
        </p:spPr>
        <p:txBody>
          <a:bodyPr wrap="none">
            <a:spAutoFit/>
          </a:bodyPr>
          <a:lstStyle/>
          <a:p>
            <a:r>
              <a:rPr lang="en-US" b="1" spc="-15" dirty="0">
                <a:solidFill>
                  <a:srgbClr val="D82128"/>
                </a:solidFill>
                <a:latin typeface="Roboto"/>
              </a:rPr>
              <a:t>USECASE DIAGRAMS</a:t>
            </a:r>
          </a:p>
        </p:txBody>
      </p:sp>
      <p:sp>
        <p:nvSpPr>
          <p:cNvPr id="7" name="Rectangle 6"/>
          <p:cNvSpPr/>
          <p:nvPr/>
        </p:nvSpPr>
        <p:spPr>
          <a:xfrm>
            <a:off x="705169" y="1020022"/>
            <a:ext cx="818173" cy="369332"/>
          </a:xfrm>
          <a:prstGeom prst="rect">
            <a:avLst/>
          </a:prstGeom>
        </p:spPr>
        <p:txBody>
          <a:bodyPr wrap="none">
            <a:spAutoFit/>
          </a:bodyPr>
          <a:lstStyle/>
          <a:p>
            <a:r>
              <a:rPr lang="en-US" b="1" spc="-15" dirty="0">
                <a:solidFill>
                  <a:srgbClr val="D82128"/>
                </a:solidFill>
                <a:latin typeface="Roboto"/>
              </a:rPr>
              <a:t>USER</a:t>
            </a:r>
          </a:p>
        </p:txBody>
      </p:sp>
      <p:pic>
        <p:nvPicPr>
          <p:cNvPr id="6" name="Picture 5"/>
          <p:cNvPicPr/>
          <p:nvPr/>
        </p:nvPicPr>
        <p:blipFill>
          <a:blip r:embed="rId2">
            <a:extLst>
              <a:ext uri="{28A0092B-C50C-407E-A947-70E740481C1C}">
                <a14:useLocalDpi xmlns:a14="http://schemas.microsoft.com/office/drawing/2010/main" val="0"/>
              </a:ext>
            </a:extLst>
          </a:blip>
          <a:srcRect/>
          <a:stretch>
            <a:fillRect/>
          </a:stretch>
        </p:blipFill>
        <p:spPr bwMode="auto">
          <a:xfrm>
            <a:off x="3470436" y="1204688"/>
            <a:ext cx="4678202" cy="4581140"/>
          </a:xfrm>
          <a:prstGeom prst="rect">
            <a:avLst/>
          </a:prstGeom>
          <a:noFill/>
          <a:ln>
            <a:noFill/>
          </a:ln>
        </p:spPr>
      </p:pic>
    </p:spTree>
    <p:extLst>
      <p:ext uri="{BB962C8B-B14F-4D97-AF65-F5344CB8AC3E}">
        <p14:creationId xmlns:p14="http://schemas.microsoft.com/office/powerpoint/2010/main" val="1384784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Rectangle 1"/>
          <p:cNvSpPr/>
          <p:nvPr/>
        </p:nvSpPr>
        <p:spPr>
          <a:xfrm>
            <a:off x="1333854" y="604165"/>
            <a:ext cx="931665" cy="369332"/>
          </a:xfrm>
          <a:prstGeom prst="rect">
            <a:avLst/>
          </a:prstGeom>
        </p:spPr>
        <p:txBody>
          <a:bodyPr wrap="none">
            <a:spAutoFit/>
          </a:bodyPr>
          <a:lstStyle/>
          <a:p>
            <a:r>
              <a:rPr lang="en-US" b="1" spc="-15" dirty="0">
                <a:solidFill>
                  <a:srgbClr val="D82128"/>
                </a:solidFill>
                <a:latin typeface="Roboto"/>
              </a:rPr>
              <a:t>ADMIN</a:t>
            </a:r>
          </a:p>
        </p:txBody>
      </p:sp>
      <p:pic>
        <p:nvPicPr>
          <p:cNvPr id="6" name="Picture 5"/>
          <p:cNvPicPr/>
          <p:nvPr/>
        </p:nvPicPr>
        <p:blipFill>
          <a:blip r:embed="rId2">
            <a:extLst>
              <a:ext uri="{28A0092B-C50C-407E-A947-70E740481C1C}">
                <a14:useLocalDpi xmlns:a14="http://schemas.microsoft.com/office/drawing/2010/main" val="0"/>
              </a:ext>
            </a:extLst>
          </a:blip>
          <a:srcRect/>
          <a:stretch>
            <a:fillRect/>
          </a:stretch>
        </p:blipFill>
        <p:spPr bwMode="auto">
          <a:xfrm>
            <a:off x="3469340" y="973497"/>
            <a:ext cx="4706471" cy="4725520"/>
          </a:xfrm>
          <a:prstGeom prst="rect">
            <a:avLst/>
          </a:prstGeom>
          <a:noFill/>
          <a:ln>
            <a:noFill/>
          </a:ln>
        </p:spPr>
      </p:pic>
    </p:spTree>
    <p:extLst>
      <p:ext uri="{BB962C8B-B14F-4D97-AF65-F5344CB8AC3E}">
        <p14:creationId xmlns:p14="http://schemas.microsoft.com/office/powerpoint/2010/main" val="22915117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Rectangle 1"/>
          <p:cNvSpPr/>
          <p:nvPr/>
        </p:nvSpPr>
        <p:spPr>
          <a:xfrm>
            <a:off x="1027263" y="655680"/>
            <a:ext cx="5450146" cy="369332"/>
          </a:xfrm>
          <a:prstGeom prst="rect">
            <a:avLst/>
          </a:prstGeom>
        </p:spPr>
        <p:txBody>
          <a:bodyPr wrap="none">
            <a:spAutoFit/>
          </a:bodyPr>
          <a:lstStyle/>
          <a:p>
            <a:r>
              <a:rPr lang="en-US" b="1" spc="-15" dirty="0">
                <a:solidFill>
                  <a:srgbClr val="D82128"/>
                </a:solidFill>
                <a:latin typeface="Roboto"/>
              </a:rPr>
              <a:t>WORKFLOW DIAGRAM FOR WEB APPLICATION</a:t>
            </a:r>
          </a:p>
        </p:txBody>
      </p:sp>
      <p:pic>
        <p:nvPicPr>
          <p:cNvPr id="3" name="Picture 2"/>
          <p:cNvPicPr/>
          <p:nvPr/>
        </p:nvPicPr>
        <p:blipFill>
          <a:blip r:embed="rId2"/>
          <a:srcRect/>
          <a:stretch/>
        </p:blipFill>
        <p:spPr bwMode="auto">
          <a:xfrm>
            <a:off x="1607345" y="1283014"/>
            <a:ext cx="9572624" cy="5015392"/>
          </a:xfrm>
          <a:prstGeom prst="rect">
            <a:avLst/>
          </a:prstGeom>
          <a:noFill/>
          <a:ln>
            <a:noFill/>
          </a:ln>
        </p:spPr>
      </p:pic>
    </p:spTree>
    <p:extLst>
      <p:ext uri="{BB962C8B-B14F-4D97-AF65-F5344CB8AC3E}">
        <p14:creationId xmlns:p14="http://schemas.microsoft.com/office/powerpoint/2010/main" val="35142524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object 3"/>
          <p:cNvSpPr/>
          <p:nvPr/>
        </p:nvSpPr>
        <p:spPr>
          <a:xfrm>
            <a:off x="0" y="435416"/>
            <a:ext cx="211015" cy="450849"/>
          </a:xfrm>
          <a:custGeom>
            <a:avLst/>
            <a:gdLst/>
            <a:ahLst/>
            <a:cxnLst/>
            <a:rect l="l" t="t" r="r" b="b"/>
            <a:pathLst>
              <a:path w="77470" h="177165">
                <a:moveTo>
                  <a:pt x="77076" y="0"/>
                </a:moveTo>
                <a:lnTo>
                  <a:pt x="0" y="0"/>
                </a:lnTo>
                <a:lnTo>
                  <a:pt x="0" y="176936"/>
                </a:lnTo>
                <a:lnTo>
                  <a:pt x="77076" y="176936"/>
                </a:lnTo>
                <a:lnTo>
                  <a:pt x="77076" y="0"/>
                </a:lnTo>
                <a:close/>
              </a:path>
            </a:pathLst>
          </a:custGeom>
          <a:solidFill>
            <a:srgbClr val="D92129"/>
          </a:solidFill>
        </p:spPr>
        <p:txBody>
          <a:bodyPr wrap="square" lIns="0" tIns="0" rIns="0" bIns="0" rtlCol="0"/>
          <a:lstStyle/>
          <a:p>
            <a:endParaRPr/>
          </a:p>
        </p:txBody>
      </p:sp>
      <p:sp>
        <p:nvSpPr>
          <p:cNvPr id="3" name="Rectangle 2"/>
          <p:cNvSpPr/>
          <p:nvPr/>
        </p:nvSpPr>
        <p:spPr>
          <a:xfrm>
            <a:off x="957696" y="476174"/>
            <a:ext cx="1717137" cy="369332"/>
          </a:xfrm>
          <a:prstGeom prst="rect">
            <a:avLst/>
          </a:prstGeom>
        </p:spPr>
        <p:txBody>
          <a:bodyPr wrap="none">
            <a:spAutoFit/>
          </a:bodyPr>
          <a:lstStyle/>
          <a:p>
            <a:r>
              <a:rPr lang="en-US" b="1" spc="-15" dirty="0">
                <a:solidFill>
                  <a:srgbClr val="D82128"/>
                </a:solidFill>
                <a:latin typeface="Roboto"/>
              </a:rPr>
              <a:t>CONCLUSION</a:t>
            </a:r>
            <a:endParaRPr lang="en-IN" dirty="0"/>
          </a:p>
        </p:txBody>
      </p:sp>
      <p:sp>
        <p:nvSpPr>
          <p:cNvPr id="8" name="Content Placeholder 7"/>
          <p:cNvSpPr>
            <a:spLocks noGrp="1"/>
          </p:cNvSpPr>
          <p:nvPr>
            <p:ph idx="1"/>
          </p:nvPr>
        </p:nvSpPr>
        <p:spPr>
          <a:xfrm>
            <a:off x="957696" y="1104408"/>
            <a:ext cx="10515600" cy="4351338"/>
          </a:xfrm>
        </p:spPr>
        <p:txBody>
          <a:bodyPr>
            <a:normAutofit/>
          </a:bodyPr>
          <a:lstStyle/>
          <a:p>
            <a:pPr algn="just">
              <a:lnSpc>
                <a:spcPct val="150000"/>
              </a:lnSpc>
              <a:buFont typeface="Wingdings" panose="05000000000000000000" pitchFamily="2" charset="2"/>
              <a:buChar char="Ø"/>
            </a:pPr>
            <a:r>
              <a:rPr lang="en-US" sz="1600" dirty="0">
                <a:latin typeface="Roboto regular"/>
              </a:rPr>
              <a:t>The entire project has been developed and deployed as per the requirements stated by the user, it is found to be bug free as per the testing standards that is implemented.</a:t>
            </a:r>
          </a:p>
          <a:p>
            <a:pPr algn="just">
              <a:lnSpc>
                <a:spcPct val="150000"/>
              </a:lnSpc>
              <a:buFont typeface="Wingdings" panose="05000000000000000000" pitchFamily="2" charset="2"/>
              <a:buChar char="Ø"/>
            </a:pPr>
            <a:r>
              <a:rPr lang="en-US" sz="1600" dirty="0">
                <a:latin typeface="Roboto regular"/>
              </a:rPr>
              <a:t> Any specification-untraced errors will be concentrated in the coming versions, which are planned to be developed in the future. </a:t>
            </a:r>
          </a:p>
          <a:p>
            <a:pPr algn="just">
              <a:lnSpc>
                <a:spcPct val="150000"/>
              </a:lnSpc>
              <a:buFont typeface="Wingdings" panose="05000000000000000000" pitchFamily="2" charset="2"/>
              <a:buChar char="Ø"/>
            </a:pPr>
            <a:r>
              <a:rPr lang="en-US" sz="1600" dirty="0">
                <a:latin typeface="Roboto regular"/>
              </a:rPr>
              <a:t>The system at present does not take care of the money payment methods, as the consolidated constructs need SSL standards.</a:t>
            </a:r>
            <a:endParaRPr lang="en-IN" sz="1600" dirty="0">
              <a:latin typeface="Roboto regular"/>
            </a:endParaRPr>
          </a:p>
        </p:txBody>
      </p:sp>
    </p:spTree>
    <p:extLst>
      <p:ext uri="{BB962C8B-B14F-4D97-AF65-F5344CB8AC3E}">
        <p14:creationId xmlns:p14="http://schemas.microsoft.com/office/powerpoint/2010/main" val="34185585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object 3"/>
          <p:cNvSpPr/>
          <p:nvPr/>
        </p:nvSpPr>
        <p:spPr>
          <a:xfrm>
            <a:off x="0" y="435416"/>
            <a:ext cx="211015" cy="450849"/>
          </a:xfrm>
          <a:custGeom>
            <a:avLst/>
            <a:gdLst/>
            <a:ahLst/>
            <a:cxnLst/>
            <a:rect l="l" t="t" r="r" b="b"/>
            <a:pathLst>
              <a:path w="77470" h="177165">
                <a:moveTo>
                  <a:pt x="77076" y="0"/>
                </a:moveTo>
                <a:lnTo>
                  <a:pt x="0" y="0"/>
                </a:lnTo>
                <a:lnTo>
                  <a:pt x="0" y="176936"/>
                </a:lnTo>
                <a:lnTo>
                  <a:pt x="77076" y="176936"/>
                </a:lnTo>
                <a:lnTo>
                  <a:pt x="77076" y="0"/>
                </a:lnTo>
                <a:close/>
              </a:path>
            </a:pathLst>
          </a:custGeom>
          <a:solidFill>
            <a:srgbClr val="D92129"/>
          </a:solidFill>
        </p:spPr>
        <p:txBody>
          <a:bodyPr wrap="square" lIns="0" tIns="0" rIns="0" bIns="0" rtlCol="0"/>
          <a:lstStyle/>
          <a:p>
            <a:endParaRPr/>
          </a:p>
        </p:txBody>
      </p:sp>
      <p:sp>
        <p:nvSpPr>
          <p:cNvPr id="3" name="Rectangle 2"/>
          <p:cNvSpPr/>
          <p:nvPr/>
        </p:nvSpPr>
        <p:spPr>
          <a:xfrm>
            <a:off x="1283617" y="476174"/>
            <a:ext cx="2945678" cy="369332"/>
          </a:xfrm>
          <a:prstGeom prst="rect">
            <a:avLst/>
          </a:prstGeom>
        </p:spPr>
        <p:txBody>
          <a:bodyPr wrap="none">
            <a:spAutoFit/>
          </a:bodyPr>
          <a:lstStyle/>
          <a:p>
            <a:r>
              <a:rPr lang="en-US" b="1" spc="-15" dirty="0">
                <a:solidFill>
                  <a:srgbClr val="D82128"/>
                </a:solidFill>
                <a:latin typeface="Roboto"/>
              </a:rPr>
              <a:t>FUTURE ENHANCEMENT</a:t>
            </a:r>
            <a:endParaRPr lang="en-IN" dirty="0"/>
          </a:p>
        </p:txBody>
      </p:sp>
      <p:sp>
        <p:nvSpPr>
          <p:cNvPr id="5" name="Content Placeholder 4"/>
          <p:cNvSpPr>
            <a:spLocks noGrp="1"/>
          </p:cNvSpPr>
          <p:nvPr>
            <p:ph idx="1"/>
          </p:nvPr>
        </p:nvSpPr>
        <p:spPr>
          <a:xfrm>
            <a:off x="1283617" y="1130165"/>
            <a:ext cx="10515600" cy="5231997"/>
          </a:xfrm>
        </p:spPr>
        <p:txBody>
          <a:bodyPr>
            <a:normAutofit/>
          </a:bodyPr>
          <a:lstStyle/>
          <a:p>
            <a:pPr algn="just">
              <a:lnSpc>
                <a:spcPct val="150000"/>
              </a:lnSpc>
              <a:buFont typeface="Wingdings" panose="05000000000000000000" pitchFamily="2" charset="2"/>
              <a:buChar char="Ø"/>
            </a:pPr>
            <a:r>
              <a:rPr lang="en-IN" sz="1600" dirty="0">
                <a:latin typeface="RobotoRegular"/>
              </a:rPr>
              <a:t>In Future work, This application to develop a cross platforms like IOS, etc.</a:t>
            </a:r>
          </a:p>
          <a:p>
            <a:pPr algn="just">
              <a:lnSpc>
                <a:spcPct val="150000"/>
              </a:lnSpc>
              <a:buFont typeface="Wingdings" panose="05000000000000000000" pitchFamily="2" charset="2"/>
              <a:buChar char="Ø"/>
            </a:pPr>
            <a:r>
              <a:rPr lang="en-IN" sz="1600" dirty="0">
                <a:latin typeface="RobotoRegular"/>
              </a:rPr>
              <a:t>In adding the more features Online Movie ticket booking application to develop access with user’s flexibility.</a:t>
            </a:r>
          </a:p>
          <a:p>
            <a:pPr algn="just">
              <a:lnSpc>
                <a:spcPct val="150000"/>
              </a:lnSpc>
              <a:buFont typeface="Wingdings" panose="05000000000000000000" pitchFamily="2" charset="2"/>
              <a:buChar char="Ø"/>
            </a:pPr>
            <a:r>
              <a:rPr lang="en-US" sz="1600" dirty="0">
                <a:latin typeface="RobotoRegular"/>
              </a:rPr>
              <a:t>To authenticate the users based on the system users list which is maintained by the operating system</a:t>
            </a:r>
          </a:p>
          <a:p>
            <a:pPr algn="just">
              <a:lnSpc>
                <a:spcPct val="150000"/>
              </a:lnSpc>
              <a:buFont typeface="Wingdings" panose="05000000000000000000" pitchFamily="2" charset="2"/>
              <a:buChar char="Ø"/>
            </a:pPr>
            <a:r>
              <a:rPr lang="en-US" sz="1600" dirty="0">
                <a:latin typeface="RobotoRegular"/>
              </a:rPr>
              <a:t>To restrict the usage of all files by the users based on their privileges on the system</a:t>
            </a:r>
            <a:endParaRPr lang="en-IN" sz="1600" dirty="0">
              <a:latin typeface="RobotoRegular"/>
            </a:endParaRPr>
          </a:p>
        </p:txBody>
      </p:sp>
    </p:spTree>
    <p:extLst>
      <p:ext uri="{BB962C8B-B14F-4D97-AF65-F5344CB8AC3E}">
        <p14:creationId xmlns:p14="http://schemas.microsoft.com/office/powerpoint/2010/main" val="39305547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object 3"/>
          <p:cNvSpPr/>
          <p:nvPr/>
        </p:nvSpPr>
        <p:spPr>
          <a:xfrm>
            <a:off x="0" y="435416"/>
            <a:ext cx="211015" cy="450849"/>
          </a:xfrm>
          <a:custGeom>
            <a:avLst/>
            <a:gdLst/>
            <a:ahLst/>
            <a:cxnLst/>
            <a:rect l="l" t="t" r="r" b="b"/>
            <a:pathLst>
              <a:path w="77470" h="177165">
                <a:moveTo>
                  <a:pt x="77076" y="0"/>
                </a:moveTo>
                <a:lnTo>
                  <a:pt x="0" y="0"/>
                </a:lnTo>
                <a:lnTo>
                  <a:pt x="0" y="176936"/>
                </a:lnTo>
                <a:lnTo>
                  <a:pt x="77076" y="176936"/>
                </a:lnTo>
                <a:lnTo>
                  <a:pt x="77076" y="0"/>
                </a:lnTo>
                <a:close/>
              </a:path>
            </a:pathLst>
          </a:custGeom>
          <a:solidFill>
            <a:srgbClr val="D92129"/>
          </a:solidFill>
        </p:spPr>
        <p:txBody>
          <a:bodyPr wrap="square" lIns="0" tIns="0" rIns="0" bIns="0" rtlCol="0"/>
          <a:lstStyle/>
          <a:p>
            <a:endParaRPr/>
          </a:p>
        </p:txBody>
      </p:sp>
      <p:sp>
        <p:nvSpPr>
          <p:cNvPr id="3" name="Rectangle 2"/>
          <p:cNvSpPr/>
          <p:nvPr/>
        </p:nvSpPr>
        <p:spPr>
          <a:xfrm>
            <a:off x="858129" y="476174"/>
            <a:ext cx="3235990" cy="369332"/>
          </a:xfrm>
          <a:prstGeom prst="rect">
            <a:avLst/>
          </a:prstGeom>
        </p:spPr>
        <p:txBody>
          <a:bodyPr wrap="square">
            <a:spAutoFit/>
          </a:bodyPr>
          <a:lstStyle/>
          <a:p>
            <a:r>
              <a:rPr lang="en-US" b="1" spc="-15" dirty="0">
                <a:solidFill>
                  <a:srgbClr val="D82128"/>
                </a:solidFill>
                <a:latin typeface="Roboto"/>
              </a:rPr>
              <a:t>REFERNECES</a:t>
            </a:r>
            <a:endParaRPr lang="en-IN" dirty="0"/>
          </a:p>
        </p:txBody>
      </p:sp>
      <p:sp>
        <p:nvSpPr>
          <p:cNvPr id="5" name="Content Placeholder 4"/>
          <p:cNvSpPr>
            <a:spLocks noGrp="1"/>
          </p:cNvSpPr>
          <p:nvPr>
            <p:ph idx="1"/>
          </p:nvPr>
        </p:nvSpPr>
        <p:spPr>
          <a:xfrm>
            <a:off x="858129" y="886265"/>
            <a:ext cx="10515600" cy="5501656"/>
          </a:xfrm>
        </p:spPr>
        <p:txBody>
          <a:bodyPr>
            <a:normAutofit/>
          </a:bodyPr>
          <a:lstStyle/>
          <a:p>
            <a:pPr lvl="0">
              <a:lnSpc>
                <a:spcPct val="150000"/>
              </a:lnSpc>
              <a:buFont typeface="Wingdings" panose="05000000000000000000" pitchFamily="2" charset="2"/>
              <a:buChar char="Ø"/>
            </a:pPr>
            <a:r>
              <a:rPr lang="en-US" sz="1600" dirty="0">
                <a:latin typeface="Roboto regular"/>
              </a:rPr>
              <a:t>Budd, T. (1997b), An Introduction to Object-Oriented Programming,2nd </a:t>
            </a:r>
            <a:r>
              <a:rPr lang="en-US" sz="1600" dirty="0" err="1">
                <a:latin typeface="Roboto regular"/>
              </a:rPr>
              <a:t>edn</a:t>
            </a:r>
            <a:r>
              <a:rPr lang="en-US" sz="1600" dirty="0">
                <a:latin typeface="Roboto regular"/>
              </a:rPr>
              <a:t>, Addison-Wesley. </a:t>
            </a:r>
            <a:endParaRPr lang="en-IN" sz="1600" dirty="0">
              <a:latin typeface="Roboto regular"/>
            </a:endParaRPr>
          </a:p>
          <a:p>
            <a:pPr lvl="0">
              <a:lnSpc>
                <a:spcPct val="150000"/>
              </a:lnSpc>
              <a:buFont typeface="Wingdings" panose="05000000000000000000" pitchFamily="2" charset="2"/>
              <a:buChar char="Ø"/>
            </a:pPr>
            <a:r>
              <a:rPr lang="en-US" sz="1600" dirty="0" err="1">
                <a:latin typeface="Roboto regular"/>
              </a:rPr>
              <a:t>Ghezzi</a:t>
            </a:r>
            <a:r>
              <a:rPr lang="en-US" sz="1600" dirty="0">
                <a:latin typeface="Roboto regular"/>
              </a:rPr>
              <a:t>, C., </a:t>
            </a:r>
            <a:r>
              <a:rPr lang="en-US" sz="1600" dirty="0" err="1">
                <a:latin typeface="Roboto regular"/>
              </a:rPr>
              <a:t>Jayazeri</a:t>
            </a:r>
            <a:r>
              <a:rPr lang="en-US" sz="1600" dirty="0">
                <a:latin typeface="Roboto regular"/>
              </a:rPr>
              <a:t>, M. &amp; </a:t>
            </a:r>
            <a:r>
              <a:rPr lang="en-US" sz="1600" dirty="0" err="1">
                <a:latin typeface="Roboto regular"/>
              </a:rPr>
              <a:t>Mandrioli</a:t>
            </a:r>
            <a:r>
              <a:rPr lang="en-US" sz="1600" dirty="0">
                <a:latin typeface="Roboto regular"/>
              </a:rPr>
              <a:t>, D. (1998), Fundamentals of Software Engineering, 2nd </a:t>
            </a:r>
            <a:r>
              <a:rPr lang="en-US" sz="1600" dirty="0" err="1">
                <a:latin typeface="Roboto regular"/>
              </a:rPr>
              <a:t>edn,Prentice</a:t>
            </a:r>
            <a:r>
              <a:rPr lang="en-US" sz="1600" dirty="0">
                <a:latin typeface="Roboto regular"/>
              </a:rPr>
              <a:t>-Hall.</a:t>
            </a:r>
            <a:endParaRPr lang="en-IN" sz="1600" dirty="0">
              <a:latin typeface="Roboto regular"/>
            </a:endParaRPr>
          </a:p>
          <a:p>
            <a:pPr lvl="0">
              <a:lnSpc>
                <a:spcPct val="150000"/>
              </a:lnSpc>
              <a:buFont typeface="Wingdings" panose="05000000000000000000" pitchFamily="2" charset="2"/>
              <a:buChar char="Ø"/>
            </a:pPr>
            <a:r>
              <a:rPr lang="en-US" sz="1600" dirty="0">
                <a:latin typeface="Roboto regular"/>
              </a:rPr>
              <a:t>K. </a:t>
            </a:r>
            <a:r>
              <a:rPr lang="en-US" sz="1600" dirty="0" err="1">
                <a:latin typeface="Roboto regular"/>
              </a:rPr>
              <a:t>Appel</a:t>
            </a:r>
            <a:r>
              <a:rPr lang="en-US" sz="1600" dirty="0">
                <a:latin typeface="Roboto regular"/>
              </a:rPr>
              <a:t> and W. </a:t>
            </a:r>
            <a:r>
              <a:rPr lang="en-US" sz="1600" dirty="0" err="1">
                <a:latin typeface="Roboto regular"/>
              </a:rPr>
              <a:t>Haken</a:t>
            </a:r>
            <a:r>
              <a:rPr lang="en-US" sz="1600" dirty="0">
                <a:latin typeface="Roboto regular"/>
              </a:rPr>
              <a:t>. (1976), Every Planar Map is 4-colorable, Bull. Amer. Math. Soc., vol. 82, pp. 711-712.</a:t>
            </a:r>
            <a:endParaRPr lang="en-IN" sz="1600" dirty="0">
              <a:latin typeface="Roboto regular"/>
            </a:endParaRPr>
          </a:p>
          <a:p>
            <a:pPr lvl="0">
              <a:lnSpc>
                <a:spcPct val="150000"/>
              </a:lnSpc>
              <a:buFont typeface="Wingdings" panose="05000000000000000000" pitchFamily="2" charset="2"/>
              <a:buChar char="Ø"/>
            </a:pPr>
            <a:r>
              <a:rPr lang="en-US" sz="1600" dirty="0">
                <a:latin typeface="Roboto regular"/>
              </a:rPr>
              <a:t>Hillenbrand, M 2001, Produce Your Play Without a Producer, Smith </a:t>
            </a:r>
            <a:r>
              <a:rPr lang="en-US" sz="1600" dirty="0" err="1">
                <a:latin typeface="Roboto regular"/>
              </a:rPr>
              <a:t>ans</a:t>
            </a:r>
            <a:r>
              <a:rPr lang="en-US" sz="1600" dirty="0">
                <a:latin typeface="Roboto regular"/>
              </a:rPr>
              <a:t> Kraus, </a:t>
            </a:r>
            <a:r>
              <a:rPr lang="en-US" sz="1600" dirty="0" err="1">
                <a:latin typeface="Roboto regular"/>
              </a:rPr>
              <a:t>Inc</a:t>
            </a:r>
            <a:r>
              <a:rPr lang="en-US" sz="1600" dirty="0">
                <a:latin typeface="Roboto regular"/>
              </a:rPr>
              <a:t>, Hanover, NH, USA.</a:t>
            </a:r>
            <a:endParaRPr lang="en-IN" sz="1600" dirty="0">
              <a:latin typeface="Roboto regular"/>
            </a:endParaRPr>
          </a:p>
          <a:p>
            <a:pPr lvl="0">
              <a:lnSpc>
                <a:spcPct val="150000"/>
              </a:lnSpc>
              <a:buFont typeface="Wingdings" panose="05000000000000000000" pitchFamily="2" charset="2"/>
              <a:buChar char="Ø"/>
            </a:pPr>
            <a:r>
              <a:rPr lang="en-US" sz="1600" dirty="0">
                <a:latin typeface="Roboto regular"/>
              </a:rPr>
              <a:t>Schneider, Re &amp; Ford, MJ 1993, The Well-Run Theatre, Drama Book Publishers, New York</a:t>
            </a:r>
            <a:endParaRPr lang="en-IN" sz="1600" dirty="0">
              <a:latin typeface="Roboto regular"/>
            </a:endParaRPr>
          </a:p>
          <a:p>
            <a:pPr lvl="0">
              <a:lnSpc>
                <a:spcPct val="150000"/>
              </a:lnSpc>
              <a:buFont typeface="Wingdings" panose="05000000000000000000" pitchFamily="2" charset="2"/>
              <a:buChar char="Ø"/>
            </a:pPr>
            <a:r>
              <a:rPr lang="en-US" sz="1600" dirty="0">
                <a:latin typeface="Roboto regular"/>
              </a:rPr>
              <a:t>Pick, J 1985, The Theatre Industry, Comedian Publishing Group, UK.</a:t>
            </a:r>
            <a:endParaRPr lang="en-IN" sz="1600" dirty="0">
              <a:latin typeface="Roboto regular"/>
            </a:endParaRPr>
          </a:p>
        </p:txBody>
      </p:sp>
    </p:spTree>
    <p:extLst>
      <p:ext uri="{BB962C8B-B14F-4D97-AF65-F5344CB8AC3E}">
        <p14:creationId xmlns:p14="http://schemas.microsoft.com/office/powerpoint/2010/main" val="27242066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F01286E-61EE-0C9B-C871-E8702E1BF510}"/>
              </a:ext>
            </a:extLst>
          </p:cNvPr>
          <p:cNvSpPr txBox="1"/>
          <p:nvPr/>
        </p:nvSpPr>
        <p:spPr>
          <a:xfrm>
            <a:off x="4346971" y="2599700"/>
            <a:ext cx="5379245" cy="1015663"/>
          </a:xfrm>
          <a:prstGeom prst="rect">
            <a:avLst/>
          </a:prstGeom>
          <a:noFill/>
          <a:ln>
            <a:noFill/>
          </a:ln>
        </p:spPr>
        <p:style>
          <a:lnRef idx="0">
            <a:scrgbClr r="0" g="0" b="0"/>
          </a:lnRef>
          <a:fillRef idx="0">
            <a:scrgbClr r="0" g="0" b="0"/>
          </a:fillRef>
          <a:effectRef idx="0">
            <a:scrgbClr r="0" g="0" b="0"/>
          </a:effectRef>
          <a:fontRef idx="minor">
            <a:schemeClr val="accent4"/>
          </a:fontRef>
        </p:style>
        <p:txBody>
          <a:bodyPr wrap="square" rtlCol="0">
            <a:spAutoFit/>
          </a:bodyPr>
          <a:lstStyle/>
          <a:p>
            <a:pPr algn="l"/>
            <a:r>
              <a:rPr lang="en-US" sz="6000" b="1"/>
              <a:t>THANK YOU</a:t>
            </a:r>
          </a:p>
        </p:txBody>
      </p:sp>
    </p:spTree>
    <p:extLst>
      <p:ext uri="{BB962C8B-B14F-4D97-AF65-F5344CB8AC3E}">
        <p14:creationId xmlns:p14="http://schemas.microsoft.com/office/powerpoint/2010/main" val="215784365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369</TotalTime>
  <Words>747</Words>
  <Application>Microsoft Office PowerPoint</Application>
  <PresentationFormat>Widescreen</PresentationFormat>
  <Paragraphs>105</Paragraphs>
  <Slides>20</Slides>
  <Notes>0</Notes>
  <HiddenSlides>0</HiddenSlides>
  <MMClips>0</MMClip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Office Theme</vt:lpstr>
      <vt:lpstr>Movie Ticket Booking System</vt:lpstr>
      <vt:lpstr>AIM OF THE PROJECT</vt:lpstr>
      <vt:lpstr>OBJECTIVE OF THIS PROJECT</vt:lpstr>
      <vt:lpstr>SOFTWARE AND HARDWARE REQUIREMENTS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KAVITHA</dc:creator>
  <cp:lastModifiedBy>yogeshbadgujar524@gmail.com</cp:lastModifiedBy>
  <cp:revision>55</cp:revision>
  <dcterms:created xsi:type="dcterms:W3CDTF">2021-09-08T10:38:53Z</dcterms:created>
  <dcterms:modified xsi:type="dcterms:W3CDTF">2025-11-28T03:26:58Z</dcterms:modified>
</cp:coreProperties>
</file>